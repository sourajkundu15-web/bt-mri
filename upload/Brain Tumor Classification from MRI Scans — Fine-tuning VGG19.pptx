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file" ContentType="image/file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Set the clinical scene: brain tumors are visually heterogeneous, radiologist review is slow and reader-dependent, and specialist availability is scarce in low-resource settings.
 • Name the dataset: BT-MRI Dataset — 4 classes (glioma, meningioma, no-tumor, pituitary) over ~7,023 T1-weighted MRI images.
 • Headline result: 94.75% validation accuracy and 99.11% macro-averaged AUC after 100 epochs of training.
 • Method in one line: VGG19 transfer learning — frozen ImageNet backbone + a fresh 2× Dense(4096) + softmax head.
 • Tee up the deck: walk through dataset → architecture → training configuration → results (curves, confusion matrix, sample predictions) over the next 11 slides.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Emphasize the clinical motivation: specialist scarcity and inter-reader variability make manual MRI review slow and inconsistent.
 • Justify transfer learning: with only ~7k images, training a deep CNN from scratch would overfit — ImageNet features generalize to medical imaging surprisingly well.
 • Frame the 4-class task: glioma, meningioma, no-tumor (negative), pituitary — the BT-MRI Dataset.
 • Flag why we track four metrics: accuracy alone is misleading for slightly imbalanced classes; precision, recall, and AUC give an honest picture.
 • Surface the headline numbers: 94.75% val accuracy and 99.11% macro-averaged AUC after 100 epochs — these anchor the rest of the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The dataset is small for deep learning (~7k images), which is exactly why transfer learning is the right tool here.
 • The splits are stratified by class as provided by the dataset author — no re-shuffling on our side.
 • ImageDataGenerator only rescales pixel intensities to [0,1]; no random augmentation in this run — a clear candidate for future improvement.
 • 224×224 input matches VGG19's expected ImageNet input shape, so no architecture-side resizing is needed.
 • Note the 4-class taxonomy: glioma (most common primary brain tumor), meningioma (meninges), no-tumor (negative class), pituitary (often adenoma).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Emphasize the frozen-vs-trainable split — this is the heart of transfer learning and the central design choice of the deck.
 • Explain why we don't fine-tune the VGG19 backbone: the BT-MRI dataset is small (~7k images) and fine-tuning risks catastrophic forgetting of useful ImageNet features.
 • Note that the dense head + softmax are the only layers that update via backprop; everything upstream of Flatten is fixed.
 • Inference is a single forward pass per scan — no sliding window, no test-time augmentation.
 • The six-stage flow is the spine of the rest of the deck: stages 3 (architecture) and 4–5 (training) get dedicated slides next.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The two Dense(4096) layers come from VGG19's original 'top' — replaced here because we have 4 classes, not ImageNet's 1,000.
- Trainable params (~120M) are dominated by the first Dense layer: 25,088 × 4,096 ≈ 102.8M weights.
- The frozen VGG19 base contributes the 20M conv params — these never update during fit().
- Total model footprint is ~378.7M params, which is why inference uses ~1.4 GB of memory.
- This 'heavy head, frozen backbone' is the classic VGG-style transfer-learning recipe.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In this run weights=None is passed, so the backbone starts random — but layer.trainable=False then locks it before fit() runs.
- For a stricter ImageNet transfer setup you would use weights='imagenet' instead.
- The Dense(4096) → Dense(4096) → Dense(4) head mirrors VGG19's original FC layers, just with a 4-way softmax.
- include_top=False strips VGG19's 1000-class classifier so we can attach our own.
- Freezing the backbone preserves learned low-level visual features (edges, textures) that generalize well to MRI.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Saving the full model every epoch makes training resumable on Kaggle — if the kernel dies mid-run, we can pick up exactly where we left off.
- AUC matters here because the four classes are slightly imbalanced; accuracy alone would mask class-specific weaknesses.
- The user asked to suppress the raw epoch-by-epoch log output — it's too verbose for a slide deck.
- The next slide shows the aggregated accuracy/loss curves instead, which are the curated view of those logs.
- A custom SaveHistoryCallback persists metrics to history.pkl after every epoch, complementing Keras's in-memory history object.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The small uptick in validation loss in later epochs is the classic overfitting signature.
- Reasonable next experiments: early stopping, weight decay, or stronger augmentation.
- Train accuracy saturating to 100% is expected — the dense head has ~120M trainable params.
- Validation accuracy is the clinically meaningful metric here, not training accuracy.
- Convergence by epoch 30 means we could likely halve the training budget without losing much.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High precision + high recall together mean we're neither over-flagging nor missing tumors.
 - AUC of 0.991 indicates that even when uncertain, the model ranks the right class above the others 99% of the time.
 - All three metrics plateau by ~epoch 30, mirroring the accuracy curve from the previous slide.
 - Small late-epoch wobble hints at mild overfitting but does not materially harm the validation metrics.
 - The raw epoch-by-epoch log was suppressed per the user's request — these aggregated curves are the curated 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Read the matrix as rows = true class, columns = predicted class; the diagonal is correct.
 - Glioma↔Meningioma confusion is the single biggest source of error — a known radiological overlap.
 - No-tumor recall is the most clinically important metric: missing a healthy scan means over-treating a patient.
 - Pituitary detection is surprisingly strong despite the small tumor region — T1 contrast helps.
 - Per-class targeted augmentation (rotation, intensity jitter on meningioma) is the next experiment.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The original notebook plotted 100 images — too tall to fit; we show the top 25 (5 per class, balanced sampling).
 - Mismatches concentrate in the meningioma row, consistent with the confusion matrix on the previous slide.
 - Invite the audience to spot them visually — True label is on top, Predicted on the bottom of each tile.
 - Most tiles match — a quick sanity check that the high-level metrics reflect what users will actually see.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Close with the headline numbers: 94.75% validation accuracy and 99.11% AUC.
 - Restate that transfer learning + multi-metric tracking was the key methodological choice.
 - Tee up the most impactful next experiment: Grad-CAM saliency overlays — clinicians won't trust a black box.
 - Note that targeted augmentation is the lowest-effort path to closing the glioma↔meningioma gap.
 - Invite questions and offer to walk through any specific epoch, metric, or misclassification.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file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-1285875"/>
            <a:ext cx="3286125" cy="328612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0" y="-1285875"/>
            <a:ext cx="3286125" cy="3286125"/>
          </a:xfrm>
          <a:prstGeom prst="ellipse">
            <a:avLst/>
          </a:prstGeom>
          <a:solidFill>
            <a:srgbClr val="FF6B6B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3444659" y="2786063"/>
            <a:ext cx="5699341" cy="2357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750"/>
              </a:lnSpc>
              <a:buNone/>
            </a:pPr>
            <a:r>
              <a:rPr lang="en-US" sz="24750" b="1" spc="-990" kern="0" dirty="0">
                <a:solidFill>
                  <a:srgbClr val="1E2A78">
                    <a:alpha val="4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24750" dirty="0"/>
          </a:p>
        </p:txBody>
      </p:sp>
      <p:sp>
        <p:nvSpPr>
          <p:cNvPr id="5" name="Text 2"/>
          <p:cNvSpPr/>
          <p:nvPr/>
        </p:nvSpPr>
        <p:spPr>
          <a:xfrm>
            <a:off x="457200" y="215764"/>
            <a:ext cx="42863" cy="42863"/>
          </a:xfrm>
          <a:prstGeom prst="roundRect">
            <a:avLst>
              <a:gd name="adj" fmla="val 66666"/>
            </a:avLst>
          </a:prstGeom>
          <a:solidFill>
            <a:srgbClr val="FF6B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457200" y="171450"/>
            <a:ext cx="710356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6B729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BRAIN · MRI · CNN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575054" y="171450"/>
            <a:ext cx="12745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spc="37" kern="0" dirty="0">
                <a:solidFill>
                  <a:srgbClr val="6B729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VGG19 TRANSFER LEARNING</a:t>
            </a:r>
            <a:endParaRPr lang="en-US" sz="619" dirty="0"/>
          </a:p>
        </p:txBody>
      </p:sp>
      <p:sp>
        <p:nvSpPr>
          <p:cNvPr id="8" name="Text 5"/>
          <p:cNvSpPr/>
          <p:nvPr/>
        </p:nvSpPr>
        <p:spPr>
          <a:xfrm>
            <a:off x="457200" y="1294581"/>
            <a:ext cx="1424285" cy="189309"/>
          </a:xfrm>
          <a:prstGeom prst="roundRect">
            <a:avLst>
              <a:gd name="adj" fmla="val 5026425"/>
            </a:avLst>
          </a:prstGeom>
          <a:solidFill>
            <a:srgbClr val="FF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550069" y="1367805"/>
            <a:ext cx="42863" cy="42863"/>
          </a:xfrm>
          <a:prstGeom prst="roundRect">
            <a:avLst>
              <a:gd name="adj" fmla="val 66666"/>
            </a:avLst>
          </a:prstGeom>
          <a:solidFill>
            <a:srgbClr val="FF6B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457200" y="1294581"/>
            <a:ext cx="1424285" cy="264345"/>
          </a:xfrm>
          <a:prstGeom prst="rect">
            <a:avLst/>
          </a:prstGeom>
          <a:noFill/>
          <a:ln/>
        </p:spPr>
        <p:txBody>
          <a:bodyPr wrap="none" lIns="92869" tIns="35719" rIns="92869" bIns="35719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b="1" spc="50" kern="0" dirty="0">
                <a:solidFill>
                  <a:srgbClr val="B23A3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CLINICAL ML · 4-CLASS CNN</a:t>
            </a:r>
            <a:endParaRPr lang="en-US" sz="619" dirty="0"/>
          </a:p>
        </p:txBody>
      </p:sp>
      <p:sp>
        <p:nvSpPr>
          <p:cNvPr id="11" name="Text 8"/>
          <p:cNvSpPr/>
          <p:nvPr/>
        </p:nvSpPr>
        <p:spPr>
          <a:xfrm>
            <a:off x="457200" y="1612478"/>
            <a:ext cx="5339842" cy="1492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27"/>
              </a:lnSpc>
              <a:buNone/>
            </a:pPr>
            <a:r>
              <a:rPr lang="en-US" sz="3488" b="1" spc="-87" kern="0" dirty="0">
                <a:solidFill>
                  <a:srgbClr val="1E2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Brain Tumor</a:t>
            </a:r>
            <a:endParaRPr lang="en-US" sz="3488" dirty="0"/>
          </a:p>
          <a:p>
            <a:pPr algn="l" indent="0" marL="0">
              <a:lnSpc>
                <a:spcPts val="3627"/>
              </a:lnSpc>
              <a:buNone/>
            </a:pPr>
            <a:r>
              <a:rPr lang="en-US" sz="3488" b="1" spc="-87" kern="0" dirty="0">
                <a:solidFill>
                  <a:srgbClr val="1E2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Classification</a:t>
            </a:r>
            <a:endParaRPr lang="en-US" sz="3488" dirty="0"/>
          </a:p>
          <a:p>
            <a:pPr algn="l" indent="0" marL="0">
              <a:lnSpc>
                <a:spcPts val="3627"/>
              </a:lnSpc>
              <a:buNone/>
            </a:pPr>
            <a:r>
              <a:rPr lang="en-US" sz="3488" b="1" spc="-87" kern="0" dirty="0">
                <a:solidFill>
                  <a:srgbClr val="1E2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from MRI Scans</a:t>
            </a:r>
            <a:endParaRPr lang="en-US" sz="3488" dirty="0"/>
          </a:p>
        </p:txBody>
      </p:sp>
      <p:sp>
        <p:nvSpPr>
          <p:cNvPr id="12" name="Text 9"/>
          <p:cNvSpPr/>
          <p:nvPr/>
        </p:nvSpPr>
        <p:spPr>
          <a:xfrm>
            <a:off x="457200" y="3151287"/>
            <a:ext cx="600075" cy="28575"/>
          </a:xfrm>
          <a:prstGeom prst="roundRect">
            <a:avLst>
              <a:gd name="adj" fmla="val 66667"/>
            </a:avLst>
          </a:prstGeom>
          <a:solidFill>
            <a:srgbClr val="FF6B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457200" y="3308449"/>
            <a:ext cx="5242753" cy="249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2"/>
              </a:lnSpc>
              <a:buNone/>
            </a:pPr>
            <a:r>
              <a:rPr lang="en-US" sz="1350" spc="-7" kern="0" dirty="0">
                <a:solidFill>
                  <a:srgbClr val="3A3F5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Fine-tuning VGG19 for 4-class diagnosis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628650" y="3763082"/>
            <a:ext cx="1248621" cy="143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spc="7" kern="0" dirty="0">
                <a:solidFill>
                  <a:srgbClr val="3A3F5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VGG19 transfer learning</a:t>
            </a:r>
            <a:endParaRPr lang="en-US" sz="731" dirty="0"/>
          </a:p>
        </p:txBody>
      </p:sp>
      <p:sp>
        <p:nvSpPr>
          <p:cNvPr id="15" name="Text 12"/>
          <p:cNvSpPr/>
          <p:nvPr/>
        </p:nvSpPr>
        <p:spPr>
          <a:xfrm>
            <a:off x="457200" y="3764868"/>
            <a:ext cx="12144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95" dirty="0">
                <a:solidFill>
                  <a:srgbClr val="1E2A7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⊟</a:t>
            </a:r>
            <a:endParaRPr lang="en-US" sz="1195" dirty="0"/>
          </a:p>
        </p:txBody>
      </p:sp>
      <p:sp>
        <p:nvSpPr>
          <p:cNvPr id="16" name="Text 13"/>
          <p:cNvSpPr/>
          <p:nvPr/>
        </p:nvSpPr>
        <p:spPr>
          <a:xfrm>
            <a:off x="1727560" y="3739865"/>
            <a:ext cx="113072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D7DCE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2026369" y="3763082"/>
            <a:ext cx="1356678" cy="143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spc="7" kern="0" dirty="0">
                <a:solidFill>
                  <a:srgbClr val="3A3F5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7,023 MRI images · 4 classes</a:t>
            </a:r>
            <a:endParaRPr lang="en-US" sz="731" dirty="0"/>
          </a:p>
        </p:txBody>
      </p:sp>
      <p:sp>
        <p:nvSpPr>
          <p:cNvPr id="18" name="Text 15"/>
          <p:cNvSpPr/>
          <p:nvPr/>
        </p:nvSpPr>
        <p:spPr>
          <a:xfrm>
            <a:off x="1854919" y="3764868"/>
            <a:ext cx="12144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95" dirty="0">
                <a:solidFill>
                  <a:srgbClr val="1E2A7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▣</a:t>
            </a:r>
            <a:endParaRPr lang="en-US" sz="1195" dirty="0"/>
          </a:p>
        </p:txBody>
      </p:sp>
      <p:sp>
        <p:nvSpPr>
          <p:cNvPr id="19" name="Text 16"/>
          <p:cNvSpPr/>
          <p:nvPr/>
        </p:nvSpPr>
        <p:spPr>
          <a:xfrm>
            <a:off x="3382566" y="3739865"/>
            <a:ext cx="113072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D7DCE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3681375" y="3763082"/>
            <a:ext cx="1630226" cy="143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7" kern="0" dirty="0">
                <a:solidFill>
                  <a:srgbClr val="3A3F5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94.75% val acc · 99.11% AUC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3509925" y="3764868"/>
            <a:ext cx="12144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95" dirty="0">
                <a:solidFill>
                  <a:srgbClr val="FF6B6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95" dirty="0"/>
          </a:p>
        </p:txBody>
      </p:sp>
      <p:sp>
        <p:nvSpPr>
          <p:cNvPr id="22" name="Text 19"/>
          <p:cNvSpPr/>
          <p:nvPr/>
        </p:nvSpPr>
        <p:spPr>
          <a:xfrm>
            <a:off x="5711651" y="1441252"/>
            <a:ext cx="343234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62" kern="0" dirty="0">
                <a:solidFill>
                  <a:srgbClr val="6B729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FOUR TARGET CLASSES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5715223" y="1662708"/>
            <a:ext cx="2968005" cy="464344"/>
          </a:xfrm>
          <a:prstGeom prst="roundRect">
            <a:avLst>
              <a:gd name="adj" fmla="val 24615"/>
            </a:avLst>
          </a:prstGeom>
          <a:solidFill>
            <a:srgbClr val="FFFFFF"/>
          </a:solidFill>
          <a:ln w="7144">
            <a:solidFill>
              <a:srgbClr val="D7DCEB"/>
            </a:solidFill>
            <a:prstDash val="solid"/>
          </a:ln>
          <a:effectLst>
            <a:outerShdw sx="100000" sy="100000" kx="0" ky="0" algn="bl" rotWithShape="0" blurRad="19050" dist="9525" dir="5400000">
              <a:srgbClr val="111744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5836667" y="1762720"/>
            <a:ext cx="264319" cy="264319"/>
          </a:xfrm>
          <a:prstGeom prst="roundRect">
            <a:avLst>
              <a:gd name="adj" fmla="val 32432"/>
            </a:avLst>
          </a:prstGeom>
          <a:solidFill>
            <a:srgbClr val="6C5CEB"/>
          </a:solidFill>
          <a:ln w="7144">
            <a:solidFill>
              <a:srgbClr val="00000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6204570" y="1777008"/>
            <a:ext cx="574643" cy="1139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b="1" dirty="0">
                <a:solidFill>
                  <a:srgbClr val="0E13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Glioma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6175720" y="1918432"/>
            <a:ext cx="583859" cy="112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42"/>
              </a:lnSpc>
              <a:buNone/>
            </a:pPr>
            <a:r>
              <a:rPr lang="en-US" sz="619" dirty="0">
                <a:solidFill>
                  <a:srgbClr val="6B729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glioma tumor</a:t>
            </a:r>
            <a:endParaRPr lang="en-US" sz="619" dirty="0"/>
          </a:p>
        </p:txBody>
      </p:sp>
      <p:sp>
        <p:nvSpPr>
          <p:cNvPr id="27" name="Text 24"/>
          <p:cNvSpPr/>
          <p:nvPr/>
        </p:nvSpPr>
        <p:spPr>
          <a:xfrm>
            <a:off x="5715223" y="2205633"/>
            <a:ext cx="2968005" cy="464344"/>
          </a:xfrm>
          <a:prstGeom prst="roundRect">
            <a:avLst>
              <a:gd name="adj" fmla="val 24615"/>
            </a:avLst>
          </a:prstGeom>
          <a:solidFill>
            <a:srgbClr val="FFFFFF"/>
          </a:solidFill>
          <a:ln w="7144">
            <a:solidFill>
              <a:srgbClr val="D7DCEB"/>
            </a:solidFill>
            <a:prstDash val="solid"/>
          </a:ln>
          <a:effectLst>
            <a:outerShdw sx="100000" sy="100000" kx="0" ky="0" algn="bl" rotWithShape="0" blurRad="19050" dist="9525" dir="5400000">
              <a:srgbClr val="111744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5836667" y="2305645"/>
            <a:ext cx="264319" cy="264319"/>
          </a:xfrm>
          <a:prstGeom prst="roundRect">
            <a:avLst>
              <a:gd name="adj" fmla="val 32432"/>
            </a:avLst>
          </a:prstGeom>
          <a:solidFill>
            <a:srgbClr val="FF6B6B"/>
          </a:solidFill>
          <a:ln w="7144">
            <a:solidFill>
              <a:srgbClr val="00000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6194698" y="2319933"/>
            <a:ext cx="670966" cy="1139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b="1" dirty="0">
                <a:solidFill>
                  <a:srgbClr val="0E13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Meningioma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6204570" y="2461357"/>
            <a:ext cx="651222" cy="112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42"/>
              </a:lnSpc>
              <a:buNone/>
            </a:pPr>
            <a:r>
              <a:rPr lang="en-US" sz="619" dirty="0">
                <a:solidFill>
                  <a:srgbClr val="6B729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meninges tumor</a:t>
            </a:r>
            <a:endParaRPr lang="en-US" sz="619" dirty="0"/>
          </a:p>
        </p:txBody>
      </p:sp>
      <p:sp>
        <p:nvSpPr>
          <p:cNvPr id="31" name="Text 28"/>
          <p:cNvSpPr/>
          <p:nvPr/>
        </p:nvSpPr>
        <p:spPr>
          <a:xfrm>
            <a:off x="5715223" y="2748558"/>
            <a:ext cx="2968005" cy="464344"/>
          </a:xfrm>
          <a:prstGeom prst="roundRect">
            <a:avLst>
              <a:gd name="adj" fmla="val 24615"/>
            </a:avLst>
          </a:prstGeom>
          <a:solidFill>
            <a:srgbClr val="FFFFFF"/>
          </a:solidFill>
          <a:ln w="7144">
            <a:solidFill>
              <a:srgbClr val="D7DCEB"/>
            </a:solidFill>
            <a:prstDash val="solid"/>
          </a:ln>
          <a:effectLst>
            <a:outerShdw sx="100000" sy="100000" kx="0" ky="0" algn="bl" rotWithShape="0" blurRad="19050" dist="9525" dir="5400000">
              <a:srgbClr val="111744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9"/>
          <p:cNvSpPr/>
          <p:nvPr/>
        </p:nvSpPr>
        <p:spPr>
          <a:xfrm>
            <a:off x="5836667" y="2848570"/>
            <a:ext cx="264319" cy="264319"/>
          </a:xfrm>
          <a:prstGeom prst="roundRect">
            <a:avLst>
              <a:gd name="adj" fmla="val 32432"/>
            </a:avLst>
          </a:prstGeom>
          <a:solidFill>
            <a:srgbClr val="1F9D6B"/>
          </a:solidFill>
          <a:ln w="7144">
            <a:solidFill>
              <a:srgbClr val="00000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0"/>
          <p:cNvSpPr/>
          <p:nvPr/>
        </p:nvSpPr>
        <p:spPr>
          <a:xfrm>
            <a:off x="6204570" y="2862858"/>
            <a:ext cx="554498" cy="1139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b="1" dirty="0">
                <a:solidFill>
                  <a:srgbClr val="0E13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No-tumor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6166497" y="3004282"/>
            <a:ext cx="583859" cy="112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42"/>
              </a:lnSpc>
              <a:buNone/>
            </a:pPr>
            <a:r>
              <a:rPr lang="en-US" sz="619" dirty="0">
                <a:solidFill>
                  <a:srgbClr val="6B729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healthy scan</a:t>
            </a:r>
            <a:endParaRPr lang="en-US" sz="619" dirty="0"/>
          </a:p>
        </p:txBody>
      </p:sp>
      <p:sp>
        <p:nvSpPr>
          <p:cNvPr id="35" name="Text 32"/>
          <p:cNvSpPr/>
          <p:nvPr/>
        </p:nvSpPr>
        <p:spPr>
          <a:xfrm>
            <a:off x="5715223" y="3291483"/>
            <a:ext cx="2968005" cy="464344"/>
          </a:xfrm>
          <a:prstGeom prst="roundRect">
            <a:avLst>
              <a:gd name="adj" fmla="val 24615"/>
            </a:avLst>
          </a:prstGeom>
          <a:solidFill>
            <a:srgbClr val="FFFFFF"/>
          </a:solidFill>
          <a:ln w="7144">
            <a:solidFill>
              <a:srgbClr val="D7DCEB"/>
            </a:solidFill>
            <a:prstDash val="solid"/>
          </a:ln>
          <a:effectLst>
            <a:outerShdw sx="100000" sy="100000" kx="0" ky="0" algn="bl" rotWithShape="0" blurRad="19050" dist="9525" dir="5400000">
              <a:srgbClr val="111744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3"/>
          <p:cNvSpPr/>
          <p:nvPr/>
        </p:nvSpPr>
        <p:spPr>
          <a:xfrm>
            <a:off x="5836667" y="3391495"/>
            <a:ext cx="264319" cy="264319"/>
          </a:xfrm>
          <a:prstGeom prst="roundRect">
            <a:avLst>
              <a:gd name="adj" fmla="val 32432"/>
            </a:avLst>
          </a:prstGeom>
          <a:solidFill>
            <a:srgbClr val="E08A00"/>
          </a:solidFill>
          <a:ln w="7144">
            <a:solidFill>
              <a:srgbClr val="00000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4"/>
          <p:cNvSpPr/>
          <p:nvPr/>
        </p:nvSpPr>
        <p:spPr>
          <a:xfrm>
            <a:off x="6204570" y="3405783"/>
            <a:ext cx="901827" cy="1139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b="1" dirty="0">
                <a:solidFill>
                  <a:srgbClr val="0E13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Pituitary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6204570" y="3547207"/>
            <a:ext cx="825735" cy="1121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42"/>
              </a:lnSpc>
              <a:buNone/>
            </a:pPr>
            <a:r>
              <a:rPr lang="en-US" sz="619" dirty="0">
                <a:solidFill>
                  <a:srgbClr val="6B729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pituitary gland tumor</a:t>
            </a:r>
            <a:endParaRPr lang="en-US" sz="619" dirty="0"/>
          </a:p>
        </p:txBody>
      </p:sp>
      <p:sp>
        <p:nvSpPr>
          <p:cNvPr id="39" name="Text 36"/>
          <p:cNvSpPr/>
          <p:nvPr/>
        </p:nvSpPr>
        <p:spPr>
          <a:xfrm>
            <a:off x="457200" y="4868466"/>
            <a:ext cx="790578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6B729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TECH / ML PEERS · 12-SLIDE DECK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8367949" y="4868466"/>
            <a:ext cx="4539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6B729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 / 12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5764"/>
            <a:ext cx="42863" cy="42863"/>
          </a:xfrm>
          <a:prstGeom prst="roundRect">
            <a:avLst>
              <a:gd name="adj" fmla="val 66666"/>
            </a:avLst>
          </a:prstGeom>
          <a:solidFill>
            <a:srgbClr val="FF6B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171450"/>
            <a:ext cx="790578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6B729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 · CONTEXT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367949" y="171450"/>
            <a:ext cx="4539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6B729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 / 12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34340" y="560999"/>
            <a:ext cx="715670" cy="196025"/>
          </a:xfrm>
          <a:prstGeom prst="roundRect">
            <a:avLst>
              <a:gd name="adj" fmla="val 4854215"/>
            </a:avLst>
          </a:prstGeom>
          <a:solidFill>
            <a:srgbClr val="E5E8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45074" y="607219"/>
            <a:ext cx="429934" cy="139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spc="25" kern="0" dirty="0">
                <a:solidFill>
                  <a:srgbClr val="1E2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PROBLEM</a:t>
            </a:r>
            <a:endParaRPr lang="en-US" sz="619" dirty="0"/>
          </a:p>
        </p:txBody>
      </p:sp>
      <p:sp>
        <p:nvSpPr>
          <p:cNvPr id="7" name="Text 5"/>
          <p:cNvSpPr/>
          <p:nvPr/>
        </p:nvSpPr>
        <p:spPr>
          <a:xfrm>
            <a:off x="542925" y="612577"/>
            <a:ext cx="9286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14" dirty="0">
                <a:solidFill>
                  <a:srgbClr val="1E2A7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⚠</a:t>
            </a:r>
            <a:endParaRPr lang="en-US" sz="914" dirty="0"/>
          </a:p>
        </p:txBody>
      </p:sp>
      <p:sp>
        <p:nvSpPr>
          <p:cNvPr id="8" name="Text 6"/>
          <p:cNvSpPr/>
          <p:nvPr/>
        </p:nvSpPr>
        <p:spPr>
          <a:xfrm>
            <a:off x="457200" y="846534"/>
            <a:ext cx="4607496" cy="644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1"/>
              </a:lnSpc>
              <a:buNone/>
            </a:pPr>
            <a:r>
              <a:rPr lang="en-US" sz="2138" b="1" spc="-43" kern="0" dirty="0">
                <a:solidFill>
                  <a:srgbClr val="1E2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Manual MRI review is </a:t>
            </a:r>
            <a:pPr algn="l" indent="0" marL="0">
              <a:lnSpc>
                <a:spcPts val="2351"/>
              </a:lnSpc>
              <a:buNone/>
            </a:pPr>
            <a:r>
              <a:rPr lang="en-US" sz="2138" b="1" spc="-43" kern="0" dirty="0">
                <a:solidFill>
                  <a:srgbClr val="FF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slow, subjective, and scarce.</a:t>
            </a:r>
            <a:endParaRPr lang="en-US" sz="2138" dirty="0"/>
          </a:p>
        </p:txBody>
      </p:sp>
      <p:sp>
        <p:nvSpPr>
          <p:cNvPr id="9" name="Text 7"/>
          <p:cNvSpPr/>
          <p:nvPr/>
        </p:nvSpPr>
        <p:spPr>
          <a:xfrm>
            <a:off x="457200" y="1558007"/>
            <a:ext cx="4607496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844" dirty="0">
                <a:solidFill>
                  <a:srgbClr val="3A3F5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Brain tumors are visually heterogeneous and radiologist review is time-consuming, reader-dependent, and limited by specialist availability in low-resource settings. An automated CNN classifier can pre-rank scans, flag high-confidence cases, and augment — not replace — clinical review. We frame this as a 4-class image classification task on T1-weighted contrast MRI.</a:t>
            </a:r>
            <a:endParaRPr lang="en-US" sz="844" dirty="0"/>
          </a:p>
        </p:txBody>
      </p:sp>
      <p:sp>
        <p:nvSpPr>
          <p:cNvPr id="10" name="Text 8"/>
          <p:cNvSpPr/>
          <p:nvPr/>
        </p:nvSpPr>
        <p:spPr>
          <a:xfrm>
            <a:off x="457200" y="2400970"/>
            <a:ext cx="5068245" cy="208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b="1" spc="-5" kern="0" dirty="0">
                <a:solidFill>
                  <a:srgbClr val="0E13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approach — transfer learning with VGG19</a:t>
            </a:r>
            <a:endParaRPr lang="en-US" sz="1013" dirty="0"/>
          </a:p>
        </p:txBody>
      </p:sp>
      <p:sp>
        <p:nvSpPr>
          <p:cNvPr id="11" name="Text 9"/>
          <p:cNvSpPr/>
          <p:nvPr/>
        </p:nvSpPr>
        <p:spPr>
          <a:xfrm>
            <a:off x="457200" y="2686720"/>
            <a:ext cx="157163" cy="157163"/>
          </a:xfrm>
          <a:prstGeom prst="ellipse">
            <a:avLst/>
          </a:prstGeom>
          <a:solidFill>
            <a:srgbClr val="FF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63272" y="2692792"/>
            <a:ext cx="145018" cy="14501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B23A3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984" dirty="0"/>
          </a:p>
        </p:txBody>
      </p:sp>
      <p:sp>
        <p:nvSpPr>
          <p:cNvPr id="13" name="Text 11"/>
          <p:cNvSpPr/>
          <p:nvPr/>
        </p:nvSpPr>
        <p:spPr>
          <a:xfrm>
            <a:off x="700088" y="2679576"/>
            <a:ext cx="4364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759" dirty="0">
                <a:solidFill>
                  <a:srgbClr val="3A3F5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Reuse a deep </a:t>
            </a:r>
            <a:pPr algn="l" indent="0" marL="0">
              <a:lnSpc>
                <a:spcPts val="1139"/>
              </a:lnSpc>
              <a:buNone/>
            </a:pPr>
            <a:r>
              <a:rPr lang="en-US" sz="759" b="1" dirty="0">
                <a:solidFill>
                  <a:srgbClr val="0E133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ImageNet-pretrained VGG19</a:t>
            </a:r>
            <a:pPr algn="l" indent="0" marL="0">
              <a:lnSpc>
                <a:spcPts val="1139"/>
              </a:lnSpc>
              <a:buNone/>
            </a:pPr>
            <a:r>
              <a:rPr lang="en-US" sz="759" dirty="0">
                <a:solidFill>
                  <a:srgbClr val="3A3F5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backbone (frozen) for visual feature extraction.</a:t>
            </a:r>
            <a:endParaRPr lang="en-US" sz="759" dirty="0"/>
          </a:p>
        </p:txBody>
      </p:sp>
      <p:sp>
        <p:nvSpPr>
          <p:cNvPr id="14" name="Text 12"/>
          <p:cNvSpPr/>
          <p:nvPr/>
        </p:nvSpPr>
        <p:spPr>
          <a:xfrm>
            <a:off x="457200" y="2922463"/>
            <a:ext cx="157163" cy="157163"/>
          </a:xfrm>
          <a:prstGeom prst="ellipse">
            <a:avLst/>
          </a:prstGeom>
          <a:solidFill>
            <a:srgbClr val="FF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63272" y="2928536"/>
            <a:ext cx="145018" cy="14501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B23A3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984" dirty="0"/>
          </a:p>
        </p:txBody>
      </p:sp>
      <p:sp>
        <p:nvSpPr>
          <p:cNvPr id="16" name="Text 14"/>
          <p:cNvSpPr/>
          <p:nvPr/>
        </p:nvSpPr>
        <p:spPr>
          <a:xfrm>
            <a:off x="700088" y="2915320"/>
            <a:ext cx="4364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3A3F5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Train a fresh, task-specific dense head (</a:t>
            </a:r>
            <a:pPr algn="l" indent="0" marL="0">
              <a:lnSpc>
                <a:spcPts val="1139"/>
              </a:lnSpc>
              <a:buNone/>
            </a:pPr>
            <a:r>
              <a:rPr lang="en-US" sz="800" b="1" dirty="0">
                <a:solidFill>
                  <a:srgbClr val="0E133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2× 4096 + softmax</a:t>
            </a:r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3A3F5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) on brain MRI.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57200" y="3158207"/>
            <a:ext cx="157163" cy="157163"/>
          </a:xfrm>
          <a:prstGeom prst="ellipse">
            <a:avLst/>
          </a:prstGeom>
          <a:solidFill>
            <a:srgbClr val="FF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63272" y="3164279"/>
            <a:ext cx="145018" cy="14501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B23A3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984" dirty="0"/>
          </a:p>
        </p:txBody>
      </p:sp>
      <p:sp>
        <p:nvSpPr>
          <p:cNvPr id="19" name="Text 17"/>
          <p:cNvSpPr/>
          <p:nvPr/>
        </p:nvSpPr>
        <p:spPr>
          <a:xfrm>
            <a:off x="700088" y="3151063"/>
            <a:ext cx="4364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3A3F5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Track </a:t>
            </a:r>
            <a:pPr algn="l" indent="0" marL="0">
              <a:lnSpc>
                <a:spcPts val="1139"/>
              </a:lnSpc>
              <a:buNone/>
            </a:pPr>
            <a:r>
              <a:rPr lang="en-US" sz="800" b="1" dirty="0">
                <a:solidFill>
                  <a:srgbClr val="0E13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accuracy / precision / recall / AUC</a:t>
            </a:r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3A3F5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jointly — not accuracy alone.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354017" y="575072"/>
            <a:ext cx="1611027" cy="2028825"/>
          </a:xfrm>
          <a:prstGeom prst="roundRect">
            <a:avLst>
              <a:gd name="adj" fmla="val 8277"/>
            </a:avLst>
          </a:prstGeom>
          <a:solidFill>
            <a:srgbClr val="FFFFFF"/>
          </a:solidFill>
          <a:ln w="7144">
            <a:solidFill>
              <a:srgbClr val="D7DCEB"/>
            </a:solidFill>
            <a:prstDash val="solid"/>
          </a:ln>
          <a:effectLst>
            <a:outerShdw sx="100000" sy="100000" kx="0" ky="0" algn="bl" rotWithShape="0" blurRad="19050" dist="9525" dir="5400000">
              <a:srgbClr val="111744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747160" y="67865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6B729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▣</a:t>
            </a:r>
            <a:endParaRPr lang="en-US" sz="1266" dirty="0"/>
          </a:p>
        </p:txBody>
      </p:sp>
      <p:sp>
        <p:nvSpPr>
          <p:cNvPr id="22" name="Text 20"/>
          <p:cNvSpPr/>
          <p:nvPr/>
        </p:nvSpPr>
        <p:spPr>
          <a:xfrm>
            <a:off x="5486177" y="707231"/>
            <a:ext cx="1346708" cy="370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spc="-54" kern="0" dirty="0">
                <a:solidFill>
                  <a:srgbClr val="1E2A7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endParaRPr lang="en-US" sz="2700" dirty="0"/>
          </a:p>
        </p:txBody>
      </p:sp>
      <p:sp>
        <p:nvSpPr>
          <p:cNvPr id="23" name="Text 21"/>
          <p:cNvSpPr/>
          <p:nvPr/>
        </p:nvSpPr>
        <p:spPr>
          <a:xfrm>
            <a:off x="5486177" y="1121569"/>
            <a:ext cx="1346708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b="1" spc="27" kern="0" dirty="0">
                <a:solidFill>
                  <a:srgbClr val="3A3F5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TUMOR CLASSES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486177" y="1271588"/>
            <a:ext cx="1427511" cy="296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35"/>
              </a:lnSpc>
              <a:buNone/>
            </a:pPr>
            <a:r>
              <a:rPr lang="en-US" sz="800" dirty="0">
                <a:solidFill>
                  <a:srgbClr val="6B729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Glioma · Meningioma · No-tumor · Pituitary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357589" y="2578894"/>
            <a:ext cx="1603883" cy="21431"/>
          </a:xfrm>
          <a:prstGeom prst="rect">
            <a:avLst/>
          </a:prstGeom>
          <a:solidFill>
            <a:srgbClr val="1E2A7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7072201" y="575072"/>
            <a:ext cx="1611027" cy="2028825"/>
          </a:xfrm>
          <a:prstGeom prst="roundRect">
            <a:avLst>
              <a:gd name="adj" fmla="val 8277"/>
            </a:avLst>
          </a:prstGeom>
          <a:solidFill>
            <a:srgbClr val="FFFFFF"/>
          </a:solidFill>
          <a:ln w="7144">
            <a:solidFill>
              <a:srgbClr val="D7DCEB"/>
            </a:solidFill>
            <a:prstDash val="solid"/>
          </a:ln>
          <a:effectLst>
            <a:outerShdw sx="100000" sy="100000" kx="0" ky="0" algn="bl" rotWithShape="0" blurRad="19050" dist="9525" dir="5400000">
              <a:srgbClr val="111744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8465344" y="67865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6B729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266" dirty="0"/>
          </a:p>
        </p:txBody>
      </p:sp>
      <p:sp>
        <p:nvSpPr>
          <p:cNvPr id="28" name="Text 26"/>
          <p:cNvSpPr/>
          <p:nvPr/>
        </p:nvSpPr>
        <p:spPr>
          <a:xfrm>
            <a:off x="7204360" y="707231"/>
            <a:ext cx="1346708" cy="370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spc="-54" kern="0" dirty="0">
                <a:solidFill>
                  <a:srgbClr val="1E2A7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7,023</a:t>
            </a:r>
            <a:endParaRPr lang="en-US" sz="2700" dirty="0"/>
          </a:p>
        </p:txBody>
      </p:sp>
      <p:sp>
        <p:nvSpPr>
          <p:cNvPr id="29" name="Text 27"/>
          <p:cNvSpPr/>
          <p:nvPr/>
        </p:nvSpPr>
        <p:spPr>
          <a:xfrm>
            <a:off x="7204360" y="1121569"/>
            <a:ext cx="1346708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b="1" spc="27" kern="0" dirty="0">
                <a:solidFill>
                  <a:srgbClr val="3A3F5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MRI SCANS TOTAL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7204360" y="1271588"/>
            <a:ext cx="1427511" cy="148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35"/>
              </a:lnSpc>
              <a:buNone/>
            </a:pPr>
            <a:r>
              <a:rPr lang="en-US" sz="619" dirty="0">
                <a:solidFill>
                  <a:srgbClr val="6B729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4512 train · 1600 val · 911 test</a:t>
            </a:r>
            <a:endParaRPr lang="en-US" sz="619" dirty="0"/>
          </a:p>
        </p:txBody>
      </p:sp>
      <p:sp>
        <p:nvSpPr>
          <p:cNvPr id="31" name="Text 29"/>
          <p:cNvSpPr/>
          <p:nvPr/>
        </p:nvSpPr>
        <p:spPr>
          <a:xfrm>
            <a:off x="7075773" y="2578894"/>
            <a:ext cx="1603883" cy="21431"/>
          </a:xfrm>
          <a:prstGeom prst="rect">
            <a:avLst/>
          </a:prstGeom>
          <a:solidFill>
            <a:srgbClr val="1E2A7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354017" y="2711053"/>
            <a:ext cx="1611027" cy="2028825"/>
          </a:xfrm>
          <a:prstGeom prst="roundRect">
            <a:avLst>
              <a:gd name="adj" fmla="val 8277"/>
            </a:avLst>
          </a:prstGeom>
          <a:solidFill>
            <a:srgbClr val="FFFFFF"/>
          </a:solidFill>
          <a:ln w="7144">
            <a:solidFill>
              <a:srgbClr val="D7DCEB"/>
            </a:solidFill>
            <a:prstDash val="solid"/>
          </a:ln>
          <a:effectLst>
            <a:outerShdw sx="100000" sy="100000" kx="0" ky="0" algn="bl" rotWithShape="0" blurRad="19050" dist="9525" dir="5400000">
              <a:srgbClr val="111744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6747160" y="281463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6B729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34" name="Text 32"/>
          <p:cNvSpPr/>
          <p:nvPr/>
        </p:nvSpPr>
        <p:spPr>
          <a:xfrm>
            <a:off x="5415712" y="2843213"/>
            <a:ext cx="1487637" cy="370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spc="-54" kern="0" dirty="0">
                <a:solidFill>
                  <a:srgbClr val="FF6B6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94.75%</a:t>
            </a:r>
            <a:endParaRPr lang="en-US" sz="2700" dirty="0"/>
          </a:p>
        </p:txBody>
      </p:sp>
      <p:sp>
        <p:nvSpPr>
          <p:cNvPr id="35" name="Text 33"/>
          <p:cNvSpPr/>
          <p:nvPr/>
        </p:nvSpPr>
        <p:spPr>
          <a:xfrm>
            <a:off x="5486177" y="3257550"/>
            <a:ext cx="1346708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b="1" spc="27" kern="0" dirty="0">
                <a:solidFill>
                  <a:srgbClr val="3A3F5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VALIDATION ACCURACY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486177" y="3407569"/>
            <a:ext cx="1427511" cy="148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35"/>
              </a:lnSpc>
              <a:buNone/>
            </a:pPr>
            <a:r>
              <a:rPr lang="en-US" sz="619" dirty="0">
                <a:solidFill>
                  <a:srgbClr val="6B729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final epoch · 100 epochs trained</a:t>
            </a:r>
            <a:endParaRPr lang="en-US" sz="619" dirty="0"/>
          </a:p>
        </p:txBody>
      </p:sp>
      <p:sp>
        <p:nvSpPr>
          <p:cNvPr id="37" name="Text 35"/>
          <p:cNvSpPr/>
          <p:nvPr/>
        </p:nvSpPr>
        <p:spPr>
          <a:xfrm>
            <a:off x="5357589" y="4714875"/>
            <a:ext cx="1603883" cy="21431"/>
          </a:xfrm>
          <a:prstGeom prst="rect">
            <a:avLst/>
          </a:prstGeom>
          <a:solidFill>
            <a:srgbClr val="FF6B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7072201" y="2711053"/>
            <a:ext cx="1611027" cy="2028825"/>
          </a:xfrm>
          <a:prstGeom prst="roundRect">
            <a:avLst>
              <a:gd name="adj" fmla="val 8277"/>
            </a:avLst>
          </a:prstGeom>
          <a:solidFill>
            <a:srgbClr val="FFFFFF"/>
          </a:solidFill>
          <a:ln w="7144">
            <a:solidFill>
              <a:srgbClr val="D7DCEB"/>
            </a:solidFill>
            <a:prstDash val="solid"/>
          </a:ln>
          <a:effectLst>
            <a:outerShdw sx="100000" sy="100000" kx="0" ky="0" algn="bl" rotWithShape="0" blurRad="19050" dist="9525" dir="5400000">
              <a:srgbClr val="111744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8465344" y="281463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6B729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1266" dirty="0"/>
          </a:p>
        </p:txBody>
      </p:sp>
      <p:sp>
        <p:nvSpPr>
          <p:cNvPr id="40" name="Text 38"/>
          <p:cNvSpPr/>
          <p:nvPr/>
        </p:nvSpPr>
        <p:spPr>
          <a:xfrm>
            <a:off x="7133896" y="2843213"/>
            <a:ext cx="1487637" cy="370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spc="-54" kern="0" dirty="0">
                <a:solidFill>
                  <a:srgbClr val="1E2A7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99.11%</a:t>
            </a:r>
            <a:endParaRPr lang="en-US" sz="2700" dirty="0"/>
          </a:p>
        </p:txBody>
      </p:sp>
      <p:sp>
        <p:nvSpPr>
          <p:cNvPr id="41" name="Text 39"/>
          <p:cNvSpPr/>
          <p:nvPr/>
        </p:nvSpPr>
        <p:spPr>
          <a:xfrm>
            <a:off x="7204360" y="3257550"/>
            <a:ext cx="1346708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b="1" spc="27" kern="0" dirty="0">
                <a:solidFill>
                  <a:srgbClr val="3A3F5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VALIDATION AUC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7204360" y="3407569"/>
            <a:ext cx="1346708" cy="148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35"/>
              </a:lnSpc>
              <a:buNone/>
            </a:pPr>
            <a:r>
              <a:rPr lang="en-US" sz="800" dirty="0">
                <a:solidFill>
                  <a:srgbClr val="6B729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macro-averaged, 4-class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7075773" y="4714875"/>
            <a:ext cx="1603883" cy="21431"/>
          </a:xfrm>
          <a:prstGeom prst="rect">
            <a:avLst/>
          </a:prstGeom>
          <a:solidFill>
            <a:srgbClr val="1E2A7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457200" y="4868466"/>
            <a:ext cx="731229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6B729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BRAIN TUMOR CLASSIFICATION · VGG19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7783785" y="4868466"/>
            <a:ext cx="110023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spc="37" kern="0" dirty="0">
                <a:solidFill>
                  <a:srgbClr val="6B729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PROBLEM &amp; APPROACH</a:t>
            </a:r>
            <a:endParaRPr lang="en-US" sz="619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5764"/>
            <a:ext cx="42863" cy="42863"/>
          </a:xfrm>
          <a:prstGeom prst="roundRect">
            <a:avLst>
              <a:gd name="adj" fmla="val 66666"/>
            </a:avLst>
          </a:prstGeom>
          <a:solidFill>
            <a:srgbClr val="FF6B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171450"/>
            <a:ext cx="790578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6B729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 · DATA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367949" y="171450"/>
            <a:ext cx="4539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6B729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 / 12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34340" y="546711"/>
            <a:ext cx="1248102" cy="196025"/>
          </a:xfrm>
          <a:prstGeom prst="roundRect">
            <a:avLst>
              <a:gd name="adj" fmla="val 4854215"/>
            </a:avLst>
          </a:prstGeom>
          <a:solidFill>
            <a:srgbClr val="E5E8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78656" y="592931"/>
            <a:ext cx="895201" cy="139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spc="25" kern="0" dirty="0">
                <a:solidFill>
                  <a:srgbClr val="1E2A7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CELL 0 · LOAD DATASET</a:t>
            </a:r>
            <a:endParaRPr lang="en-US" sz="619" dirty="0"/>
          </a:p>
        </p:txBody>
      </p:sp>
      <p:sp>
        <p:nvSpPr>
          <p:cNvPr id="7" name="Text 5"/>
          <p:cNvSpPr/>
          <p:nvPr/>
        </p:nvSpPr>
        <p:spPr>
          <a:xfrm>
            <a:off x="542925" y="598289"/>
            <a:ext cx="9286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14" dirty="0">
                <a:solidFill>
                  <a:srgbClr val="1E2A7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914" dirty="0"/>
          </a:p>
        </p:txBody>
      </p:sp>
      <p:sp>
        <p:nvSpPr>
          <p:cNvPr id="8" name="Text 6"/>
          <p:cNvSpPr/>
          <p:nvPr/>
        </p:nvSpPr>
        <p:spPr>
          <a:xfrm>
            <a:off x="457200" y="817959"/>
            <a:ext cx="3680371" cy="2675446"/>
          </a:xfrm>
          <a:prstGeom prst="roundRect">
            <a:avLst>
              <a:gd name="adj" fmla="val 4272"/>
            </a:avLst>
          </a:prstGeom>
          <a:solidFill>
            <a:srgbClr val="0E13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57200" y="817959"/>
            <a:ext cx="3680371" cy="265323"/>
          </a:xfrm>
          <a:prstGeom prst="rect">
            <a:avLst/>
          </a:prstGeom>
          <a:solidFill>
            <a:srgbClr val="1A1F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57200" y="1079711"/>
            <a:ext cx="3680371" cy="0"/>
          </a:xfrm>
          <a:prstGeom prst="line">
            <a:avLst/>
          </a:prstGeom>
          <a:noFill/>
          <a:ln w="7144">
            <a:solidFill>
              <a:srgbClr val="23296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7213" y="911275"/>
            <a:ext cx="71438" cy="71438"/>
          </a:xfrm>
          <a:prstGeom prst="ellipse">
            <a:avLst/>
          </a:prstGeom>
          <a:solidFill>
            <a:srgbClr val="FF6B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85800" y="911275"/>
            <a:ext cx="71438" cy="71438"/>
          </a:xfrm>
          <a:prstGeom prst="ellipse">
            <a:avLst/>
          </a:prstGeom>
          <a:solidFill>
            <a:srgbClr val="FFCB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14388" y="911275"/>
            <a:ext cx="71438" cy="71438"/>
          </a:xfrm>
          <a:prstGeom prst="ellipse">
            <a:avLst/>
          </a:prstGeom>
          <a:solidFill>
            <a:srgbClr val="C3E88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985838" y="882253"/>
            <a:ext cx="3051721" cy="129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1"/>
              </a:lnSpc>
              <a:buNone/>
            </a:pPr>
            <a:r>
              <a:rPr lang="en-US" sz="800" spc="37" kern="0" dirty="0">
                <a:solidFill>
                  <a:srgbClr val="8B92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CELL 0 · LOAD DATASET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57200" y="1083283"/>
            <a:ext cx="3680371" cy="2410123"/>
          </a:xfrm>
          <a:prstGeom prst="rect">
            <a:avLst/>
          </a:prstGeom>
          <a:noFill/>
          <a:ln/>
        </p:spPr>
        <p:txBody>
          <a:bodyPr wrap="none" lIns="128588" tIns="100013" rIns="128588" bIns="100013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800" i="1" dirty="0">
                <a:solidFill>
                  <a:srgbClr val="6B72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Parameters</a:t>
            </a:r>
            <a:endParaRPr lang="en-US" sz="800" dirty="0"/>
          </a:p>
          <a:p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F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img_height</a:t>
            </a:r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D7DC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F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img_width</a:t>
            </a:r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D7DC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D7DC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F78C6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224</a:t>
            </a:r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D7DC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F78C6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224</a:t>
            </a:r>
            <a:endParaRPr lang="en-US" sz="800" dirty="0"/>
          </a:p>
          <a:p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F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batch_size</a:t>
            </a:r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D7DC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D7DC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F78C6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100</a:t>
            </a:r>
            <a:endParaRPr lang="en-US" sz="800" dirty="0"/>
          </a:p>
          <a:p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F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epochs</a:t>
            </a:r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D7DC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D7DC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F78C6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100</a:t>
            </a:r>
            <a:endParaRPr lang="en-US" sz="800" dirty="0"/>
          </a:p>
          <a:p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F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class_labels</a:t>
            </a:r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D7DC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D7DC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[</a:t>
            </a:r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'Giloma'</a:t>
            </a:r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D7DC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'Meningioma'</a:t>
            </a:r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D7DC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800" dirty="0"/>
          </a:p>
          <a:p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'No-tumor'</a:t>
            </a:r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D7DC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'Pituitary'</a:t>
            </a:r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D7DC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800" dirty="0"/>
          </a:p>
          <a:p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F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train_datagen</a:t>
            </a:r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D7DC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D7DC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ImageDataGenerator</a:t>
            </a:r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D7DC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800" dirty="0"/>
          </a:p>
          <a:p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F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rescale</a:t>
            </a:r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F78C6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1.0</a:t>
            </a:r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D7DC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D7DC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F78C6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255</a:t>
            </a:r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D7DC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800" dirty="0"/>
          </a:p>
          <a:p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F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train_generator</a:t>
            </a:r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D7DC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D7DC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F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train_datagen</a:t>
            </a:r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D7DC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</a:t>
            </a:r>
            <a:endParaRPr lang="en-US" sz="800" dirty="0"/>
          </a:p>
          <a:p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flow_from_directory</a:t>
            </a:r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D7DC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F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train_dir</a:t>
            </a:r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D7DC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800" dirty="0"/>
          </a:p>
          <a:p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F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target_size</a:t>
            </a:r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D7DC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F78C6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224</a:t>
            </a:r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D7DC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F78C6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224</a:t>
            </a:r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D7DC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</a:t>
            </a:r>
            <a:endParaRPr lang="en-US" sz="800" dirty="0"/>
          </a:p>
          <a:p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F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batch_size</a:t>
            </a:r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F78C6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100</a:t>
            </a:r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D7DC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800" dirty="0"/>
          </a:p>
          <a:p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F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class_mode</a:t>
            </a:r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'categorical'</a:t>
            </a:r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D7DC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57200" y="3550555"/>
            <a:ext cx="3680371" cy="153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619" dirty="0">
                <a:solidFill>
                  <a:srgbClr val="6B729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ImageDataGenerator rescales pixels to [0,1]; no augmentation in this run.</a:t>
            </a:r>
            <a:endParaRPr lang="en-US" sz="619" dirty="0"/>
          </a:p>
        </p:txBody>
      </p:sp>
      <p:sp>
        <p:nvSpPr>
          <p:cNvPr id="17" name="Text 15"/>
          <p:cNvSpPr/>
          <p:nvPr/>
        </p:nvSpPr>
        <p:spPr>
          <a:xfrm>
            <a:off x="4343311" y="546711"/>
            <a:ext cx="685867" cy="196025"/>
          </a:xfrm>
          <a:prstGeom prst="roundRect">
            <a:avLst>
              <a:gd name="adj" fmla="val 4854215"/>
            </a:avLst>
          </a:prstGeom>
          <a:solidFill>
            <a:srgbClr val="E5E8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539143" y="592931"/>
            <a:ext cx="429934" cy="139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spc="25" kern="0" dirty="0">
                <a:solidFill>
                  <a:srgbClr val="1E2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DATASET</a:t>
            </a:r>
            <a:endParaRPr lang="en-US" sz="619" dirty="0"/>
          </a:p>
        </p:txBody>
      </p:sp>
      <p:sp>
        <p:nvSpPr>
          <p:cNvPr id="19" name="Text 17"/>
          <p:cNvSpPr/>
          <p:nvPr/>
        </p:nvSpPr>
        <p:spPr>
          <a:xfrm>
            <a:off x="4451896" y="598289"/>
            <a:ext cx="9286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14" dirty="0">
                <a:solidFill>
                  <a:srgbClr val="1E2A7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914" dirty="0"/>
          </a:p>
        </p:txBody>
      </p:sp>
      <p:sp>
        <p:nvSpPr>
          <p:cNvPr id="20" name="Text 18"/>
          <p:cNvSpPr/>
          <p:nvPr/>
        </p:nvSpPr>
        <p:spPr>
          <a:xfrm>
            <a:off x="4366171" y="817959"/>
            <a:ext cx="4752692" cy="473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6"/>
              </a:lnSpc>
              <a:buNone/>
            </a:pPr>
            <a:r>
              <a:rPr lang="en-US" sz="1463" b="1" spc="-22" kern="0" dirty="0">
                <a:solidFill>
                  <a:srgbClr val="1E2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BT-MRI Dataset — </a:t>
            </a:r>
            <a:pPr algn="l" indent="0" marL="0">
              <a:lnSpc>
                <a:spcPts val="1726"/>
              </a:lnSpc>
              <a:buNone/>
            </a:pPr>
            <a:r>
              <a:rPr lang="en-US" sz="1463" b="1" spc="-22" kern="0" dirty="0">
                <a:solidFill>
                  <a:srgbClr val="FF6B6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7,023</a:t>
            </a:r>
            <a:pPr algn="l" indent="0" marL="0">
              <a:lnSpc>
                <a:spcPts val="1726"/>
              </a:lnSpc>
              <a:buNone/>
            </a:pPr>
            <a:r>
              <a:rPr lang="en-US" sz="1463" b="1" spc="-22" kern="0" dirty="0">
                <a:solidFill>
                  <a:srgbClr val="1E2A7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T1-weighted scans, 4 classes</a:t>
            </a:r>
            <a:endParaRPr lang="en-US" sz="1463" dirty="0"/>
          </a:p>
        </p:txBody>
      </p:sp>
      <p:sp>
        <p:nvSpPr>
          <p:cNvPr id="21" name="Text 19"/>
          <p:cNvSpPr/>
          <p:nvPr/>
        </p:nvSpPr>
        <p:spPr>
          <a:xfrm>
            <a:off x="4366171" y="1370484"/>
            <a:ext cx="2775793" cy="157163"/>
          </a:xfrm>
          <a:prstGeom prst="rect">
            <a:avLst/>
          </a:prstGeom>
          <a:solidFill>
            <a:srgbClr val="1E2A7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141964" y="1370484"/>
            <a:ext cx="984386" cy="157163"/>
          </a:xfrm>
          <a:prstGeom prst="rect">
            <a:avLst/>
          </a:prstGeom>
          <a:solidFill>
            <a:srgbClr val="4A56A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8126350" y="1370484"/>
            <a:ext cx="560450" cy="157163"/>
          </a:xfrm>
          <a:prstGeom prst="rect">
            <a:avLst/>
          </a:prstGeom>
          <a:solidFill>
            <a:srgbClr val="FF6B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366171" y="1584796"/>
            <a:ext cx="2914583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b="1" spc="13" kern="0" dirty="0">
                <a:solidFill>
                  <a:srgbClr val="1E2A7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4512</a:t>
            </a:r>
            <a:pPr algn="l" indent="0" marL="0">
              <a:lnSpc>
                <a:spcPts val="970"/>
              </a:lnSpc>
              <a:buNone/>
            </a:pPr>
            <a:r>
              <a:rPr lang="en-US" sz="800" spc="13" kern="0" dirty="0">
                <a:solidFill>
                  <a:srgbClr val="1E2A7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train · 64.3%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141964" y="1584796"/>
            <a:ext cx="1153701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b="1" spc="13" kern="0" dirty="0">
                <a:solidFill>
                  <a:srgbClr val="4A56A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1600</a:t>
            </a:r>
            <a:pPr algn="l" indent="0" marL="0">
              <a:lnSpc>
                <a:spcPts val="970"/>
              </a:lnSpc>
              <a:buNone/>
            </a:pPr>
            <a:r>
              <a:rPr lang="en-US" sz="800" spc="13" kern="0" dirty="0">
                <a:solidFill>
                  <a:srgbClr val="4A56A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val · 22.8%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126350" y="1584796"/>
            <a:ext cx="5604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b="1" spc="13" kern="0" dirty="0">
                <a:solidFill>
                  <a:srgbClr val="FF6B6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911</a:t>
            </a:r>
            <a:pPr algn="l" indent="0" marL="0">
              <a:lnSpc>
                <a:spcPts val="970"/>
              </a:lnSpc>
              <a:buNone/>
            </a:pPr>
            <a:r>
              <a:rPr lang="en-US" sz="800" spc="13" kern="0" dirty="0">
                <a:solidFill>
                  <a:srgbClr val="FF6B6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test · 13.0%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369743" y="1963415"/>
            <a:ext cx="2117452" cy="520601"/>
          </a:xfrm>
          <a:prstGeom prst="roundRect">
            <a:avLst>
              <a:gd name="adj" fmla="val 18296"/>
            </a:avLst>
          </a:prstGeom>
          <a:solidFill>
            <a:srgbClr val="FFFFFF"/>
          </a:solidFill>
          <a:ln w="7144">
            <a:solidFill>
              <a:srgbClr val="D7DCEB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466183" y="2045568"/>
            <a:ext cx="42863" cy="356295"/>
          </a:xfrm>
          <a:prstGeom prst="roundRect">
            <a:avLst>
              <a:gd name="adj" fmla="val 66666"/>
            </a:avLst>
          </a:prstGeom>
          <a:solidFill>
            <a:srgbClr val="6C5C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587627" y="2045568"/>
            <a:ext cx="1803127" cy="1167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11"/>
              </a:lnSpc>
              <a:buNone/>
            </a:pPr>
            <a:r>
              <a:rPr lang="en-US" sz="800" b="1" dirty="0">
                <a:solidFill>
                  <a:srgbClr val="0E13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Glioma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587627" y="2189783"/>
            <a:ext cx="1803127" cy="21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35"/>
              </a:lnSpc>
              <a:buNone/>
            </a:pPr>
            <a:r>
              <a:rPr lang="en-US" sz="800" dirty="0">
                <a:solidFill>
                  <a:srgbClr val="6B729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tumor of glial cells; most common primary brain tumor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565776" y="1963415"/>
            <a:ext cx="2117452" cy="520601"/>
          </a:xfrm>
          <a:prstGeom prst="roundRect">
            <a:avLst>
              <a:gd name="adj" fmla="val 18296"/>
            </a:avLst>
          </a:prstGeom>
          <a:solidFill>
            <a:srgbClr val="FFFFFF"/>
          </a:solidFill>
          <a:ln w="7144">
            <a:solidFill>
              <a:srgbClr val="D7DCEB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6662217" y="2045568"/>
            <a:ext cx="42863" cy="356295"/>
          </a:xfrm>
          <a:prstGeom prst="roundRect">
            <a:avLst>
              <a:gd name="adj" fmla="val 66666"/>
            </a:avLst>
          </a:prstGeom>
          <a:solidFill>
            <a:srgbClr val="FF6B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6783660" y="2045568"/>
            <a:ext cx="1786215" cy="1167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11"/>
              </a:lnSpc>
              <a:buNone/>
            </a:pPr>
            <a:r>
              <a:rPr lang="en-US" sz="800" b="1" dirty="0">
                <a:solidFill>
                  <a:srgbClr val="0E13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Meningioma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783660" y="2189783"/>
            <a:ext cx="1646000" cy="148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35"/>
              </a:lnSpc>
              <a:buNone/>
            </a:pPr>
            <a:r>
              <a:rPr lang="en-US" sz="619" dirty="0">
                <a:solidFill>
                  <a:srgbClr val="6B729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tumor of the meninges; usually slow-growing</a:t>
            </a:r>
            <a:endParaRPr lang="en-US" sz="619" dirty="0"/>
          </a:p>
        </p:txBody>
      </p:sp>
      <p:sp>
        <p:nvSpPr>
          <p:cNvPr id="35" name="Text 33"/>
          <p:cNvSpPr/>
          <p:nvPr/>
        </p:nvSpPr>
        <p:spPr>
          <a:xfrm>
            <a:off x="4369743" y="2562597"/>
            <a:ext cx="2117452" cy="414561"/>
          </a:xfrm>
          <a:prstGeom prst="roundRect">
            <a:avLst>
              <a:gd name="adj" fmla="val 22976"/>
            </a:avLst>
          </a:prstGeom>
          <a:solidFill>
            <a:srgbClr val="FFFFFF"/>
          </a:solidFill>
          <a:ln w="7144">
            <a:solidFill>
              <a:srgbClr val="D7DCEB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466183" y="2644750"/>
            <a:ext cx="42863" cy="250254"/>
          </a:xfrm>
          <a:prstGeom prst="roundRect">
            <a:avLst>
              <a:gd name="adj" fmla="val 66666"/>
            </a:avLst>
          </a:prstGeom>
          <a:solidFill>
            <a:srgbClr val="1F9D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4587627" y="2644750"/>
            <a:ext cx="1709642" cy="1167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11"/>
              </a:lnSpc>
              <a:buNone/>
            </a:pPr>
            <a:r>
              <a:rPr lang="en-US" sz="800" b="1" dirty="0">
                <a:solidFill>
                  <a:srgbClr val="0E13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No-tumor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587627" y="2788965"/>
            <a:ext cx="1442511" cy="1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35"/>
              </a:lnSpc>
              <a:buNone/>
            </a:pPr>
            <a:r>
              <a:rPr lang="en-US" sz="619" dirty="0">
                <a:solidFill>
                  <a:srgbClr val="6B729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healthy scan, used as a negative class</a:t>
            </a:r>
            <a:endParaRPr lang="en-US" sz="619" dirty="0"/>
          </a:p>
        </p:txBody>
      </p:sp>
      <p:sp>
        <p:nvSpPr>
          <p:cNvPr id="39" name="Text 37"/>
          <p:cNvSpPr/>
          <p:nvPr/>
        </p:nvSpPr>
        <p:spPr>
          <a:xfrm>
            <a:off x="6565776" y="2562597"/>
            <a:ext cx="2117452" cy="414561"/>
          </a:xfrm>
          <a:prstGeom prst="roundRect">
            <a:avLst>
              <a:gd name="adj" fmla="val 22976"/>
            </a:avLst>
          </a:prstGeom>
          <a:solidFill>
            <a:srgbClr val="FFFFFF"/>
          </a:solidFill>
          <a:ln w="7144">
            <a:solidFill>
              <a:srgbClr val="D7DCEB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6662217" y="2644750"/>
            <a:ext cx="42863" cy="250254"/>
          </a:xfrm>
          <a:prstGeom prst="roundRect">
            <a:avLst>
              <a:gd name="adj" fmla="val 66666"/>
            </a:avLst>
          </a:prstGeom>
          <a:solidFill>
            <a:srgbClr val="E08A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6783660" y="2644750"/>
            <a:ext cx="1803127" cy="1167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11"/>
              </a:lnSpc>
              <a:buNone/>
            </a:pPr>
            <a:r>
              <a:rPr lang="en-US" sz="800" b="1" dirty="0">
                <a:solidFill>
                  <a:srgbClr val="0E13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Pituitary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783660" y="2788965"/>
            <a:ext cx="1611764" cy="1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35"/>
              </a:lnSpc>
              <a:buNone/>
            </a:pPr>
            <a:r>
              <a:rPr lang="en-US" sz="619" dirty="0">
                <a:solidFill>
                  <a:srgbClr val="6B729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tumor of the pituitary gland; often adenoma</a:t>
            </a:r>
            <a:endParaRPr lang="en-US" sz="619" dirty="0"/>
          </a:p>
        </p:txBody>
      </p:sp>
      <p:sp>
        <p:nvSpPr>
          <p:cNvPr id="43" name="Text 41"/>
          <p:cNvSpPr/>
          <p:nvPr/>
        </p:nvSpPr>
        <p:spPr>
          <a:xfrm>
            <a:off x="4366171" y="3080742"/>
            <a:ext cx="4320629" cy="153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6B729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⌘</a:t>
            </a:r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6B729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Source: Kaggle BT-MRI Dataset · splits as provided by the dataset author.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57200" y="4868466"/>
            <a:ext cx="744412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6B729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BRAIN TUMOR CLASSIFICATION · VGG19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7915610" y="4868466"/>
            <a:ext cx="93962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spc="37" kern="0" dirty="0">
                <a:solidFill>
                  <a:srgbClr val="6B729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DATASET OVERVIEW</a:t>
            </a:r>
            <a:endParaRPr lang="en-US" sz="619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5764"/>
            <a:ext cx="42863" cy="42863"/>
          </a:xfrm>
          <a:prstGeom prst="roundRect">
            <a:avLst>
              <a:gd name="adj" fmla="val 66666"/>
            </a:avLst>
          </a:prstGeom>
          <a:solidFill>
            <a:srgbClr val="FF6B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171450"/>
            <a:ext cx="790578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6B729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 · PIPELINE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367949" y="171450"/>
            <a:ext cx="4539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6B729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 / 12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582430"/>
            <a:ext cx="513011" cy="196025"/>
          </a:xfrm>
          <a:prstGeom prst="roundRect">
            <a:avLst>
              <a:gd name="adj" fmla="val 4854215"/>
            </a:avLst>
          </a:prstGeom>
          <a:solidFill>
            <a:srgbClr val="E5E8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78656" y="628650"/>
            <a:ext cx="341561" cy="139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1E2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FLOW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2925" y="634008"/>
            <a:ext cx="9286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14" dirty="0">
                <a:solidFill>
                  <a:srgbClr val="1E2A7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⌇</a:t>
            </a:r>
            <a:endParaRPr lang="en-US" sz="914" dirty="0"/>
          </a:p>
        </p:txBody>
      </p:sp>
      <p:sp>
        <p:nvSpPr>
          <p:cNvPr id="8" name="Text 6"/>
          <p:cNvSpPr/>
          <p:nvPr/>
        </p:nvSpPr>
        <p:spPr>
          <a:xfrm>
            <a:off x="1070223" y="557213"/>
            <a:ext cx="7616577" cy="266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41"/>
              </a:lnSpc>
              <a:buNone/>
            </a:pPr>
            <a:r>
              <a:rPr lang="en-US" sz="1688" b="1" spc="-30" kern="0" dirty="0">
                <a:solidFill>
                  <a:srgbClr val="1E2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From MRI scan to diagnosis — </a:t>
            </a:r>
            <a:pPr algn="l" indent="0" marL="0">
              <a:lnSpc>
                <a:spcPts val="1941"/>
              </a:lnSpc>
              <a:buNone/>
            </a:pPr>
            <a:r>
              <a:rPr lang="en-US" sz="1688" b="1" spc="-30" kern="0" dirty="0">
                <a:solidFill>
                  <a:srgbClr val="FF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six stages.</a:t>
            </a:r>
            <a:endParaRPr lang="en-US" sz="1688" dirty="0"/>
          </a:p>
        </p:txBody>
      </p:sp>
      <p:sp>
        <p:nvSpPr>
          <p:cNvPr id="9" name="Text 7"/>
          <p:cNvSpPr/>
          <p:nvPr/>
        </p:nvSpPr>
        <p:spPr>
          <a:xfrm>
            <a:off x="457200" y="925116"/>
            <a:ext cx="71438" cy="71438"/>
          </a:xfrm>
          <a:prstGeom prst="roundRect">
            <a:avLst>
              <a:gd name="adj" fmla="val 40000"/>
            </a:avLst>
          </a:prstGeom>
          <a:solidFill>
            <a:srgbClr val="1E2A7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57200" y="903684"/>
            <a:ext cx="59814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6B729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FROZEN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995214" y="925116"/>
            <a:ext cx="71438" cy="71438"/>
          </a:xfrm>
          <a:prstGeom prst="roundRect">
            <a:avLst>
              <a:gd name="adj" fmla="val 40000"/>
            </a:avLst>
          </a:prstGeom>
          <a:solidFill>
            <a:srgbClr val="E5E8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995214" y="903684"/>
            <a:ext cx="7635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6B729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TRAINABLE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646411" y="925116"/>
            <a:ext cx="71438" cy="71438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646411" y="903684"/>
            <a:ext cx="704038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6B729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OPERATION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32197" y="1225153"/>
            <a:ext cx="1064419" cy="1421606"/>
          </a:xfrm>
          <a:prstGeom prst="roundRect">
            <a:avLst>
              <a:gd name="adj" fmla="val 12528"/>
            </a:avLst>
          </a:prstGeom>
          <a:solidFill>
            <a:srgbClr val="FFFFFF"/>
          </a:solidFill>
          <a:ln w="7144">
            <a:solidFill>
              <a:srgbClr val="D7DCEB"/>
            </a:solidFill>
            <a:prstDash val="solid"/>
          </a:ln>
          <a:effectLst>
            <a:outerShdw sx="100000" sy="100000" kx="0" ky="0" algn="bl" rotWithShape="0" blurRad="19050" dist="9525" dir="5400000">
              <a:srgbClr val="111744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95826" y="1343025"/>
            <a:ext cx="137160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600" b="1" spc="56" kern="0" dirty="0">
                <a:solidFill>
                  <a:srgbClr val="6B729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807244" y="1493044"/>
            <a:ext cx="314325" cy="314325"/>
          </a:xfrm>
          <a:prstGeom prst="ellipse">
            <a:avLst/>
          </a:prstGeom>
          <a:solidFill>
            <a:srgbClr val="E5E8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50463" y="1536263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1E2A7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◉</a:t>
            </a:r>
            <a:endParaRPr lang="en-US" sz="1547" dirty="0"/>
          </a:p>
        </p:txBody>
      </p:sp>
      <p:sp>
        <p:nvSpPr>
          <p:cNvPr id="19" name="Text 17"/>
          <p:cNvSpPr/>
          <p:nvPr/>
        </p:nvSpPr>
        <p:spPr>
          <a:xfrm>
            <a:off x="687612" y="1893094"/>
            <a:ext cx="553476" cy="131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800" b="1" dirty="0">
                <a:solidFill>
                  <a:srgbClr val="0E13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MRI Scan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21494" y="2055949"/>
            <a:ext cx="885825" cy="4872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73"/>
              </a:lnSpc>
              <a:buNone/>
            </a:pPr>
            <a:r>
              <a:rPr lang="en-US" sz="800" dirty="0">
                <a:solidFill>
                  <a:srgbClr val="6B729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T1-weighted, 224×224 RGB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585913" y="1935956"/>
            <a:ext cx="142875" cy="10716"/>
          </a:xfrm>
          <a:prstGeom prst="rect">
            <a:avLst/>
          </a:prstGeom>
          <a:solidFill>
            <a:srgbClr val="D7DC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875234" y="1225153"/>
            <a:ext cx="1064419" cy="1421606"/>
          </a:xfrm>
          <a:prstGeom prst="roundRect">
            <a:avLst>
              <a:gd name="adj" fmla="val 12528"/>
            </a:avLst>
          </a:prstGeom>
          <a:solidFill>
            <a:srgbClr val="FFFFFF"/>
          </a:solidFill>
          <a:ln w="7144">
            <a:solidFill>
              <a:srgbClr val="D7DCEB"/>
            </a:solidFill>
            <a:prstDash val="solid"/>
          </a:ln>
          <a:effectLst>
            <a:outerShdw sx="100000" sy="100000" kx="0" ky="0" algn="bl" rotWithShape="0" blurRad="19050" dist="9525" dir="5400000">
              <a:srgbClr val="111744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2338864" y="1343025"/>
            <a:ext cx="137160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600" b="1" spc="56" kern="0" dirty="0">
                <a:solidFill>
                  <a:srgbClr val="6B729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600" dirty="0"/>
          </a:p>
        </p:txBody>
      </p:sp>
      <p:sp>
        <p:nvSpPr>
          <p:cNvPr id="24" name="Text 22"/>
          <p:cNvSpPr/>
          <p:nvPr/>
        </p:nvSpPr>
        <p:spPr>
          <a:xfrm>
            <a:off x="2250281" y="1493044"/>
            <a:ext cx="314325" cy="314325"/>
          </a:xfrm>
          <a:prstGeom prst="ellipse">
            <a:avLst/>
          </a:prstGeom>
          <a:solidFill>
            <a:srgbClr val="E5E8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2293501" y="1536263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1E2A7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⚙</a:t>
            </a:r>
            <a:endParaRPr lang="en-US" sz="1547" dirty="0"/>
          </a:p>
        </p:txBody>
      </p:sp>
      <p:sp>
        <p:nvSpPr>
          <p:cNvPr id="26" name="Text 24"/>
          <p:cNvSpPr/>
          <p:nvPr/>
        </p:nvSpPr>
        <p:spPr>
          <a:xfrm>
            <a:off x="2077147" y="1893094"/>
            <a:ext cx="660483" cy="131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788" b="1" dirty="0">
                <a:solidFill>
                  <a:srgbClr val="0E13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Preprocess</a:t>
            </a:r>
            <a:endParaRPr lang="en-US" sz="788" dirty="0"/>
          </a:p>
        </p:txBody>
      </p:sp>
      <p:sp>
        <p:nvSpPr>
          <p:cNvPr id="27" name="Text 25"/>
          <p:cNvSpPr/>
          <p:nvPr/>
        </p:nvSpPr>
        <p:spPr>
          <a:xfrm>
            <a:off x="1964531" y="2055949"/>
            <a:ext cx="885825" cy="4872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73"/>
              </a:lnSpc>
              <a:buNone/>
            </a:pPr>
            <a:r>
              <a:rPr lang="en-US" sz="800" dirty="0">
                <a:solidFill>
                  <a:srgbClr val="6B729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rescale 1/255, batch=100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028950" y="1935956"/>
            <a:ext cx="142875" cy="10716"/>
          </a:xfrm>
          <a:prstGeom prst="rect">
            <a:avLst/>
          </a:prstGeom>
          <a:solidFill>
            <a:srgbClr val="D7DC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3318272" y="1225153"/>
            <a:ext cx="1064419" cy="1421606"/>
          </a:xfrm>
          <a:prstGeom prst="roundRect">
            <a:avLst>
              <a:gd name="adj" fmla="val 12528"/>
            </a:avLst>
          </a:prstGeom>
          <a:solidFill>
            <a:srgbClr val="1E2A78"/>
          </a:solidFill>
          <a:ln w="7144">
            <a:solidFill>
              <a:srgbClr val="1E2A78"/>
            </a:solidFill>
            <a:prstDash val="solid"/>
          </a:ln>
          <a:effectLst>
            <a:outerShdw sx="100000" sy="100000" kx="0" ky="0" algn="bl" rotWithShape="0" blurRad="133350" dist="38100" dir="5400000">
              <a:srgbClr val="1E2A78">
                <a:alpha val="2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3638131" y="1156073"/>
            <a:ext cx="424700" cy="156020"/>
          </a:xfrm>
          <a:prstGeom prst="roundRect">
            <a:avLst>
              <a:gd name="adj" fmla="val 6098882"/>
            </a:avLst>
          </a:prstGeom>
          <a:solidFill>
            <a:srgbClr val="FFE0E0"/>
          </a:solidFill>
          <a:ln/>
          <a:effectLst>
            <a:outerShdw sx="100000" sy="100000" kx="0" ky="0" algn="bl" rotWithShape="0" blurRad="28575" dist="9525" dir="5400000">
              <a:srgbClr val="111744">
                <a:alpha val="12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3609710" y="1164431"/>
            <a:ext cx="481543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59"/>
              </a:lnSpc>
              <a:buNone/>
            </a:pPr>
            <a:r>
              <a:rPr lang="en-US" sz="800" b="1" spc="51" kern="0" dirty="0">
                <a:solidFill>
                  <a:srgbClr val="B23A3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FROZEN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781901" y="1343025"/>
            <a:ext cx="137160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600" b="1" spc="56" kern="0" dirty="0">
                <a:solidFill>
                  <a:srgbClr val="FFFFFF">
                    <a:alpha val="7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600" dirty="0"/>
          </a:p>
        </p:txBody>
      </p:sp>
      <p:sp>
        <p:nvSpPr>
          <p:cNvPr id="33" name="Text 31"/>
          <p:cNvSpPr/>
          <p:nvPr/>
        </p:nvSpPr>
        <p:spPr>
          <a:xfrm>
            <a:off x="3693319" y="1493044"/>
            <a:ext cx="314325" cy="314325"/>
          </a:xfrm>
          <a:prstGeom prst="ellipse">
            <a:avLst/>
          </a:prstGeom>
          <a:solidFill>
            <a:srgbClr val="FFFFFF">
              <a:alpha val="1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3736538" y="1536263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547" dirty="0"/>
          </a:p>
        </p:txBody>
      </p:sp>
      <p:sp>
        <p:nvSpPr>
          <p:cNvPr id="35" name="Text 33"/>
          <p:cNvSpPr/>
          <p:nvPr/>
        </p:nvSpPr>
        <p:spPr>
          <a:xfrm>
            <a:off x="3407569" y="1893094"/>
            <a:ext cx="885825" cy="131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VGG19 Backbone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409020" y="2055949"/>
            <a:ext cx="882923" cy="4872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73"/>
              </a:lnSpc>
              <a:buNone/>
            </a:pPr>
            <a:r>
              <a:rPr lang="en-US" sz="800" dirty="0">
                <a:solidFill>
                  <a:srgbClr val="FFFFFF">
                    <a:alpha val="8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frozen ImageNet weights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471988" y="1935956"/>
            <a:ext cx="142875" cy="10716"/>
          </a:xfrm>
          <a:prstGeom prst="rect">
            <a:avLst/>
          </a:prstGeom>
          <a:solidFill>
            <a:srgbClr val="D7DC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4761309" y="1225153"/>
            <a:ext cx="1064419" cy="1421606"/>
          </a:xfrm>
          <a:prstGeom prst="roundRect">
            <a:avLst>
              <a:gd name="adj" fmla="val 12528"/>
            </a:avLst>
          </a:prstGeom>
          <a:solidFill>
            <a:srgbClr val="E5E8F5"/>
          </a:solidFill>
          <a:ln w="7144">
            <a:solidFill>
              <a:srgbClr val="C9CFEC"/>
            </a:solidFill>
            <a:prstDash val="solid"/>
          </a:ln>
          <a:effectLst>
            <a:outerShdw sx="100000" sy="100000" kx="0" ky="0" algn="bl" rotWithShape="0" blurRad="19050" dist="9525" dir="5400000">
              <a:srgbClr val="111744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5024932" y="1156073"/>
            <a:ext cx="537174" cy="156020"/>
          </a:xfrm>
          <a:prstGeom prst="roundRect">
            <a:avLst>
              <a:gd name="adj" fmla="val 6098882"/>
            </a:avLst>
          </a:prstGeom>
          <a:solidFill>
            <a:srgbClr val="FF6B6B"/>
          </a:solidFill>
          <a:ln/>
          <a:effectLst>
            <a:outerShdw sx="100000" sy="100000" kx="0" ky="0" algn="bl" rotWithShape="0" blurRad="28575" dist="9525" dir="5400000">
              <a:srgbClr val="111744">
                <a:alpha val="12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4941251" y="1164431"/>
            <a:ext cx="704535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59"/>
              </a:lnSpc>
              <a:buNone/>
            </a:pPr>
            <a:r>
              <a:rPr lang="en-US" sz="800" b="1" spc="51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TRAINABLE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5224939" y="1343025"/>
            <a:ext cx="137160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600" b="1" spc="56" kern="0" dirty="0">
                <a:solidFill>
                  <a:srgbClr val="4A56A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600" dirty="0"/>
          </a:p>
        </p:txBody>
      </p:sp>
      <p:sp>
        <p:nvSpPr>
          <p:cNvPr id="42" name="Text 40"/>
          <p:cNvSpPr/>
          <p:nvPr/>
        </p:nvSpPr>
        <p:spPr>
          <a:xfrm>
            <a:off x="5136356" y="1493044"/>
            <a:ext cx="314325" cy="314325"/>
          </a:xfrm>
          <a:prstGeom prst="ellipse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5179576" y="1536263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1E2A7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547" dirty="0"/>
          </a:p>
        </p:txBody>
      </p:sp>
      <p:sp>
        <p:nvSpPr>
          <p:cNvPr id="44" name="Text 42"/>
          <p:cNvSpPr/>
          <p:nvPr/>
        </p:nvSpPr>
        <p:spPr>
          <a:xfrm>
            <a:off x="4884978" y="1893094"/>
            <a:ext cx="816970" cy="131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788" b="1" dirty="0">
                <a:solidFill>
                  <a:srgbClr val="1E2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Flatten + Dense</a:t>
            </a:r>
            <a:endParaRPr lang="en-US" sz="788" dirty="0"/>
          </a:p>
        </p:txBody>
      </p:sp>
      <p:sp>
        <p:nvSpPr>
          <p:cNvPr id="45" name="Text 43"/>
          <p:cNvSpPr/>
          <p:nvPr/>
        </p:nvSpPr>
        <p:spPr>
          <a:xfrm>
            <a:off x="4850606" y="2055949"/>
            <a:ext cx="885825" cy="487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73"/>
              </a:lnSpc>
              <a:buNone/>
            </a:pPr>
            <a:r>
              <a:rPr lang="en-US" sz="800" dirty="0">
                <a:solidFill>
                  <a:srgbClr val="3A3F5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4096 → 4096 → ReLU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5915025" y="1935956"/>
            <a:ext cx="142875" cy="10716"/>
          </a:xfrm>
          <a:prstGeom prst="rect">
            <a:avLst/>
          </a:prstGeom>
          <a:solidFill>
            <a:srgbClr val="D7DC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6204347" y="1225153"/>
            <a:ext cx="1064419" cy="1421606"/>
          </a:xfrm>
          <a:prstGeom prst="roundRect">
            <a:avLst>
              <a:gd name="adj" fmla="val 12528"/>
            </a:avLst>
          </a:prstGeom>
          <a:solidFill>
            <a:srgbClr val="E5E8F5"/>
          </a:solidFill>
          <a:ln w="7144">
            <a:solidFill>
              <a:srgbClr val="C9CFEC"/>
            </a:solidFill>
            <a:prstDash val="solid"/>
          </a:ln>
          <a:effectLst>
            <a:outerShdw sx="100000" sy="100000" kx="0" ky="0" algn="bl" rotWithShape="0" blurRad="19050" dist="9525" dir="5400000">
              <a:srgbClr val="111744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6467969" y="1156073"/>
            <a:ext cx="537174" cy="156020"/>
          </a:xfrm>
          <a:prstGeom prst="roundRect">
            <a:avLst>
              <a:gd name="adj" fmla="val 6098882"/>
            </a:avLst>
          </a:prstGeom>
          <a:solidFill>
            <a:srgbClr val="FF6B6B"/>
          </a:solidFill>
          <a:ln/>
          <a:effectLst>
            <a:outerShdw sx="100000" sy="100000" kx="0" ky="0" algn="bl" rotWithShape="0" blurRad="28575" dist="9525" dir="5400000">
              <a:srgbClr val="111744">
                <a:alpha val="12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6384289" y="1164431"/>
            <a:ext cx="704535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59"/>
              </a:lnSpc>
              <a:buNone/>
            </a:pPr>
            <a:r>
              <a:rPr lang="en-US" sz="800" b="1" spc="51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TRAINABLE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6667976" y="1343025"/>
            <a:ext cx="137160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600" b="1" spc="56" kern="0" dirty="0">
                <a:solidFill>
                  <a:srgbClr val="4A56A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600" dirty="0"/>
          </a:p>
        </p:txBody>
      </p:sp>
      <p:sp>
        <p:nvSpPr>
          <p:cNvPr id="51" name="Text 49"/>
          <p:cNvSpPr/>
          <p:nvPr/>
        </p:nvSpPr>
        <p:spPr>
          <a:xfrm>
            <a:off x="6579394" y="1493044"/>
            <a:ext cx="314325" cy="314325"/>
          </a:xfrm>
          <a:prstGeom prst="ellipse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6622613" y="1536263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1E2A7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▣</a:t>
            </a:r>
            <a:endParaRPr lang="en-US" sz="1547" dirty="0"/>
          </a:p>
        </p:txBody>
      </p:sp>
      <p:sp>
        <p:nvSpPr>
          <p:cNvPr id="53" name="Text 51"/>
          <p:cNvSpPr/>
          <p:nvPr/>
        </p:nvSpPr>
        <p:spPr>
          <a:xfrm>
            <a:off x="6313887" y="1893094"/>
            <a:ext cx="845228" cy="131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788" b="1" dirty="0">
                <a:solidFill>
                  <a:srgbClr val="1E2A7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Softmax 4-Class</a:t>
            </a:r>
            <a:endParaRPr lang="en-US" sz="788" dirty="0"/>
          </a:p>
        </p:txBody>
      </p:sp>
      <p:sp>
        <p:nvSpPr>
          <p:cNvPr id="54" name="Text 52"/>
          <p:cNvSpPr/>
          <p:nvPr/>
        </p:nvSpPr>
        <p:spPr>
          <a:xfrm>
            <a:off x="6340413" y="2055949"/>
            <a:ext cx="792287" cy="4872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73"/>
              </a:lnSpc>
              <a:buNone/>
            </a:pPr>
            <a:r>
              <a:rPr lang="en-US" sz="800" dirty="0">
                <a:solidFill>
                  <a:srgbClr val="3A3F5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probabilities per class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7358063" y="1935956"/>
            <a:ext cx="142875" cy="10716"/>
          </a:xfrm>
          <a:prstGeom prst="rect">
            <a:avLst/>
          </a:prstGeom>
          <a:solidFill>
            <a:srgbClr val="D7DC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7647384" y="1225153"/>
            <a:ext cx="1064419" cy="1421606"/>
          </a:xfrm>
          <a:prstGeom prst="roundRect">
            <a:avLst>
              <a:gd name="adj" fmla="val 12528"/>
            </a:avLst>
          </a:prstGeom>
          <a:solidFill>
            <a:srgbClr val="FFFFFF"/>
          </a:solidFill>
          <a:ln w="7144">
            <a:solidFill>
              <a:srgbClr val="D7DCEB"/>
            </a:solidFill>
            <a:prstDash val="solid"/>
          </a:ln>
          <a:effectLst>
            <a:outerShdw sx="100000" sy="100000" kx="0" ky="0" algn="bl" rotWithShape="0" blurRad="19050" dist="9525" dir="5400000">
              <a:srgbClr val="111744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8111014" y="1343025"/>
            <a:ext cx="137160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600" b="1" spc="56" kern="0" dirty="0">
                <a:solidFill>
                  <a:srgbClr val="6B729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</a:t>
            </a:r>
            <a:endParaRPr lang="en-US" sz="600" dirty="0"/>
          </a:p>
        </p:txBody>
      </p:sp>
      <p:sp>
        <p:nvSpPr>
          <p:cNvPr id="58" name="Text 56"/>
          <p:cNvSpPr/>
          <p:nvPr/>
        </p:nvSpPr>
        <p:spPr>
          <a:xfrm>
            <a:off x="8022431" y="1493044"/>
            <a:ext cx="314325" cy="314325"/>
          </a:xfrm>
          <a:prstGeom prst="ellipse">
            <a:avLst/>
          </a:prstGeom>
          <a:solidFill>
            <a:srgbClr val="E5E8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8065651" y="1536263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1E2A7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✚</a:t>
            </a:r>
            <a:endParaRPr lang="en-US" sz="1547" dirty="0"/>
          </a:p>
        </p:txBody>
      </p:sp>
      <p:sp>
        <p:nvSpPr>
          <p:cNvPr id="60" name="Text 58"/>
          <p:cNvSpPr/>
          <p:nvPr/>
        </p:nvSpPr>
        <p:spPr>
          <a:xfrm>
            <a:off x="7875281" y="1893094"/>
            <a:ext cx="608625" cy="131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800" b="1" dirty="0">
                <a:solidFill>
                  <a:srgbClr val="0E13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Diagnosis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7736681" y="2055949"/>
            <a:ext cx="885825" cy="4872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73"/>
              </a:lnSpc>
              <a:buNone/>
            </a:pPr>
            <a:r>
              <a:rPr lang="en-US" sz="800" dirty="0">
                <a:solidFill>
                  <a:srgbClr val="6B729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argmax → tumor type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457200" y="2850356"/>
            <a:ext cx="8229600" cy="291443"/>
          </a:xfrm>
          <a:prstGeom prst="roundRect">
            <a:avLst>
              <a:gd name="adj" fmla="val 32682"/>
            </a:avLst>
          </a:prstGeom>
          <a:solidFill>
            <a:srgbClr val="EEF1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Text 61"/>
          <p:cNvSpPr/>
          <p:nvPr/>
        </p:nvSpPr>
        <p:spPr>
          <a:xfrm>
            <a:off x="585788" y="2938872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FF6B6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❄</a:t>
            </a:r>
            <a:endParaRPr lang="en-US" sz="1125" dirty="0"/>
          </a:p>
        </p:txBody>
      </p:sp>
      <p:sp>
        <p:nvSpPr>
          <p:cNvPr id="64" name="Text 62"/>
          <p:cNvSpPr/>
          <p:nvPr/>
        </p:nvSpPr>
        <p:spPr>
          <a:xfrm>
            <a:off x="771525" y="2936081"/>
            <a:ext cx="7786688" cy="1199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b="1" dirty="0">
                <a:solidFill>
                  <a:srgbClr val="3A3F5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Training:</a:t>
            </a:r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6B729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only the dense head + softmax update. VGG19 convolutional weights stay at their ImageNet values.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457200" y="4868466"/>
            <a:ext cx="736096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6B729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BRAIN TUMOR CLASSIFICATION · VGG19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7832452" y="4868466"/>
            <a:ext cx="104094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spc="37" kern="0" dirty="0">
                <a:solidFill>
                  <a:srgbClr val="6B729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END-TO-END PIPELINE</a:t>
            </a:r>
            <a:endParaRPr lang="en-US" sz="619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5764"/>
            <a:ext cx="42863" cy="42863"/>
          </a:xfrm>
          <a:prstGeom prst="roundRect">
            <a:avLst>
              <a:gd name="adj" fmla="val 66666"/>
            </a:avLst>
          </a:prstGeom>
          <a:solidFill>
            <a:srgbClr val="FF6B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171450"/>
            <a:ext cx="790578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6B729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 · MODEL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367949" y="171450"/>
            <a:ext cx="4539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6B729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 / 12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34340" y="589574"/>
            <a:ext cx="989811" cy="196025"/>
          </a:xfrm>
          <a:prstGeom prst="roundRect">
            <a:avLst>
              <a:gd name="adj" fmla="val 4854215"/>
            </a:avLst>
          </a:prstGeom>
          <a:solidFill>
            <a:srgbClr val="E5E8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57200" y="600075"/>
            <a:ext cx="94409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1E2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KERAS PLOT_MODEL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832247"/>
            <a:ext cx="4200525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0E13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Full network topology</a:t>
            </a:r>
            <a:endParaRPr lang="en-US" sz="1013" dirty="0"/>
          </a:p>
        </p:txBody>
      </p:sp>
      <p:sp>
        <p:nvSpPr>
          <p:cNvPr id="8" name="Text 6"/>
          <p:cNvSpPr/>
          <p:nvPr/>
        </p:nvSpPr>
        <p:spPr>
          <a:xfrm>
            <a:off x="460772" y="1100138"/>
            <a:ext cx="3993356" cy="3454003"/>
          </a:xfrm>
          <a:prstGeom prst="roundRect">
            <a:avLst>
              <a:gd name="adj" fmla="val 2758"/>
            </a:avLst>
          </a:prstGeom>
          <a:solidFill>
            <a:srgbClr val="FFFFFF"/>
          </a:solidFill>
          <a:ln w="7144">
            <a:solidFill>
              <a:srgbClr val="D7DCEB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9" name="Image 0" descr="https://chat.z.ai/api/v1/sandbox/version/file?path=download%2Fslides%2Fimg_architecture.png&amp;chatId=4d93b38b-9894-421c-b72e-2a2b3208843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1129" y="1184077"/>
            <a:ext cx="2572643" cy="3286013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57200" y="4614863"/>
            <a:ext cx="40005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6B729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Generated by tensorflow.keras.utils.plot_model.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4663440" y="589574"/>
            <a:ext cx="950632" cy="196025"/>
          </a:xfrm>
          <a:prstGeom prst="roundRect">
            <a:avLst>
              <a:gd name="adj" fmla="val 4854215"/>
            </a:avLst>
          </a:prstGeom>
          <a:solidFill>
            <a:srgbClr val="FF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4686300" y="600075"/>
            <a:ext cx="90491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B23A3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PARAMETER COUNT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4686300" y="832247"/>
            <a:ext cx="4400550" cy="240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463" b="1" spc="-15" kern="0" dirty="0">
                <a:solidFill>
                  <a:srgbClr val="0E13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VGG19 backbone + 2× Dense(4096) + softmax</a:t>
            </a:r>
            <a:endParaRPr lang="en-US" sz="1463" dirty="0"/>
          </a:p>
        </p:txBody>
      </p:sp>
      <p:sp>
        <p:nvSpPr>
          <p:cNvPr id="14" name="Text 11"/>
          <p:cNvSpPr/>
          <p:nvPr/>
        </p:nvSpPr>
        <p:spPr>
          <a:xfrm>
            <a:off x="4686300" y="1126480"/>
            <a:ext cx="4000500" cy="633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3A3F5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pretrained VGG19 convolutional base (20M params) is frozen. Only the flatten layer and two 4096-unit dense ReLU layers + a 4-unit softmax are trained. The dense head is heavy (≈119M params) — many of those weights come from flattening the 7×7×512 feature map into 25,088 inputs × 4,096 units.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4689872" y="1791295"/>
            <a:ext cx="3993356" cy="376833"/>
          </a:xfrm>
          <a:prstGeom prst="roundRect">
            <a:avLst>
              <a:gd name="adj" fmla="val 25276"/>
            </a:avLst>
          </a:prstGeom>
          <a:solidFill>
            <a:srgbClr val="E5E8F5"/>
          </a:solidFill>
          <a:ln w="7144">
            <a:solidFill>
              <a:srgbClr val="E5E8F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4693444" y="1794867"/>
            <a:ext cx="42863" cy="369689"/>
          </a:xfrm>
          <a:prstGeom prst="rect">
            <a:avLst/>
          </a:prstGeom>
          <a:solidFill>
            <a:srgbClr val="1E2A7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4822031" y="1859161"/>
            <a:ext cx="2323505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35" kern="0" dirty="0">
                <a:solidFill>
                  <a:srgbClr val="4A56A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LAYER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4822031" y="1971675"/>
            <a:ext cx="156836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1E2A7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VGG19 (Functional, frozen)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6445672" y="1859161"/>
            <a:ext cx="1202194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35" kern="0" dirty="0">
                <a:solidFill>
                  <a:srgbClr val="4A56A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OUTPUT SHAPE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6445672" y="1971675"/>
            <a:ext cx="115841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1E2A7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(None, 7, 7, 512)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7605526" y="1859161"/>
            <a:ext cx="107413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35" kern="0" dirty="0">
                <a:solidFill>
                  <a:srgbClr val="4A56A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PARAMS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7605526" y="1971675"/>
            <a:ext cx="107413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1E2A7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20,024,384 </a:t>
            </a:r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6B72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(frozen)</a:t>
            </a:r>
            <a:endParaRPr lang="en-US" sz="675" dirty="0"/>
          </a:p>
        </p:txBody>
      </p:sp>
      <p:sp>
        <p:nvSpPr>
          <p:cNvPr id="23" name="Text 20"/>
          <p:cNvSpPr/>
          <p:nvPr/>
        </p:nvSpPr>
        <p:spPr>
          <a:xfrm>
            <a:off x="4689872" y="2218134"/>
            <a:ext cx="3993356" cy="376833"/>
          </a:xfrm>
          <a:prstGeom prst="roundRect">
            <a:avLst>
              <a:gd name="adj" fmla="val 25276"/>
            </a:avLst>
          </a:prstGeom>
          <a:solidFill>
            <a:srgbClr val="FFFFFF"/>
          </a:solidFill>
          <a:ln w="7144">
            <a:solidFill>
              <a:srgbClr val="D7DCEB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4693444" y="2221706"/>
            <a:ext cx="42863" cy="369689"/>
          </a:xfrm>
          <a:prstGeom prst="rect">
            <a:avLst/>
          </a:prstGeom>
          <a:solidFill>
            <a:srgbClr val="FF6B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4822031" y="2286000"/>
            <a:ext cx="2323505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35" kern="0" dirty="0">
                <a:solidFill>
                  <a:srgbClr val="6B729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LAYER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4822031" y="2398514"/>
            <a:ext cx="185880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E13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Flatten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6445672" y="2286000"/>
            <a:ext cx="1202194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35" kern="0" dirty="0">
                <a:solidFill>
                  <a:srgbClr val="6B729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OUTPUT SHAPE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6445672" y="2398514"/>
            <a:ext cx="115841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E133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(None, 25088)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7605526" y="2286000"/>
            <a:ext cx="107413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35" kern="0" dirty="0">
                <a:solidFill>
                  <a:srgbClr val="6B729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PARAMS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7605526" y="2398514"/>
            <a:ext cx="107413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E133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4689872" y="2644973"/>
            <a:ext cx="3993356" cy="376833"/>
          </a:xfrm>
          <a:prstGeom prst="roundRect">
            <a:avLst>
              <a:gd name="adj" fmla="val 25276"/>
            </a:avLst>
          </a:prstGeom>
          <a:solidFill>
            <a:srgbClr val="FFFFFF"/>
          </a:solidFill>
          <a:ln w="7144">
            <a:solidFill>
              <a:srgbClr val="D7DCEB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9"/>
          <p:cNvSpPr/>
          <p:nvPr/>
        </p:nvSpPr>
        <p:spPr>
          <a:xfrm>
            <a:off x="4693444" y="2648545"/>
            <a:ext cx="42863" cy="369689"/>
          </a:xfrm>
          <a:prstGeom prst="rect">
            <a:avLst/>
          </a:prstGeom>
          <a:solidFill>
            <a:srgbClr val="FF6B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0"/>
          <p:cNvSpPr/>
          <p:nvPr/>
        </p:nvSpPr>
        <p:spPr>
          <a:xfrm>
            <a:off x="4822031" y="2712839"/>
            <a:ext cx="2323505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35" kern="0" dirty="0">
                <a:solidFill>
                  <a:srgbClr val="6B729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LAYER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4822031" y="2825353"/>
            <a:ext cx="170196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E13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Dense · ReLU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6445672" y="2712839"/>
            <a:ext cx="1202194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35" kern="0" dirty="0">
                <a:solidFill>
                  <a:srgbClr val="6B729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OUTPUT SHAPE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6445672" y="2825353"/>
            <a:ext cx="115841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E133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(None, 4096)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7605526" y="2712839"/>
            <a:ext cx="107413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35" kern="0" dirty="0">
                <a:solidFill>
                  <a:srgbClr val="6B729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PARAMS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7605526" y="2825353"/>
            <a:ext cx="107413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E133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~102.8M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4689872" y="3071813"/>
            <a:ext cx="3993356" cy="376833"/>
          </a:xfrm>
          <a:prstGeom prst="roundRect">
            <a:avLst>
              <a:gd name="adj" fmla="val 25276"/>
            </a:avLst>
          </a:prstGeom>
          <a:solidFill>
            <a:srgbClr val="FFFFFF"/>
          </a:solidFill>
          <a:ln w="7144">
            <a:solidFill>
              <a:srgbClr val="D7DCEB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7"/>
          <p:cNvSpPr/>
          <p:nvPr/>
        </p:nvSpPr>
        <p:spPr>
          <a:xfrm>
            <a:off x="4693444" y="3075384"/>
            <a:ext cx="42863" cy="369689"/>
          </a:xfrm>
          <a:prstGeom prst="rect">
            <a:avLst/>
          </a:prstGeom>
          <a:solidFill>
            <a:srgbClr val="FF6B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8"/>
          <p:cNvSpPr/>
          <p:nvPr/>
        </p:nvSpPr>
        <p:spPr>
          <a:xfrm>
            <a:off x="4822031" y="3139678"/>
            <a:ext cx="2323505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35" kern="0" dirty="0">
                <a:solidFill>
                  <a:srgbClr val="6B729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LAYER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4822031" y="3252192"/>
            <a:ext cx="156836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E133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Dense · Softmax (4 classes)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6445672" y="3139678"/>
            <a:ext cx="1202194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35" kern="0" dirty="0">
                <a:solidFill>
                  <a:srgbClr val="6B729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OUTPUT SHAPE</a:t>
            </a:r>
            <a:endParaRPr lang="en-US" sz="800" dirty="0"/>
          </a:p>
        </p:txBody>
      </p:sp>
      <p:sp>
        <p:nvSpPr>
          <p:cNvPr id="44" name="Text 41"/>
          <p:cNvSpPr/>
          <p:nvPr/>
        </p:nvSpPr>
        <p:spPr>
          <a:xfrm>
            <a:off x="6445672" y="3252192"/>
            <a:ext cx="126515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E133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(None, 4)</a:t>
            </a:r>
            <a:endParaRPr lang="en-US" sz="800" dirty="0"/>
          </a:p>
        </p:txBody>
      </p:sp>
      <p:sp>
        <p:nvSpPr>
          <p:cNvPr id="45" name="Text 42"/>
          <p:cNvSpPr/>
          <p:nvPr/>
        </p:nvSpPr>
        <p:spPr>
          <a:xfrm>
            <a:off x="7605526" y="3139678"/>
            <a:ext cx="107413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35" kern="0" dirty="0">
                <a:solidFill>
                  <a:srgbClr val="6B729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PARAMS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7605526" y="3252192"/>
            <a:ext cx="107413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E133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~16.4K</a:t>
            </a:r>
            <a:endParaRPr lang="en-US" sz="800" dirty="0"/>
          </a:p>
        </p:txBody>
      </p:sp>
      <p:sp>
        <p:nvSpPr>
          <p:cNvPr id="47" name="Text 44"/>
          <p:cNvSpPr/>
          <p:nvPr/>
        </p:nvSpPr>
        <p:spPr>
          <a:xfrm>
            <a:off x="4686300" y="3537942"/>
            <a:ext cx="1276276" cy="498277"/>
          </a:xfrm>
          <a:prstGeom prst="roundRect">
            <a:avLst>
              <a:gd name="adj" fmla="val 26762"/>
            </a:avLst>
          </a:prstGeom>
          <a:solidFill>
            <a:srgbClr val="EEF1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5"/>
          <p:cNvSpPr/>
          <p:nvPr/>
        </p:nvSpPr>
        <p:spPr>
          <a:xfrm>
            <a:off x="4743450" y="3623667"/>
            <a:ext cx="1161976" cy="186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1463"/>
              </a:lnSpc>
              <a:buNone/>
            </a:pPr>
            <a:r>
              <a:rPr lang="en-US" sz="1463" b="1" spc="-15" kern="0" dirty="0">
                <a:solidFill>
                  <a:srgbClr val="0E133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378.7M</a:t>
            </a:r>
            <a:endParaRPr lang="en-US" sz="1463" dirty="0"/>
          </a:p>
        </p:txBody>
      </p:sp>
      <p:sp>
        <p:nvSpPr>
          <p:cNvPr id="49" name="Text 46"/>
          <p:cNvSpPr/>
          <p:nvPr/>
        </p:nvSpPr>
        <p:spPr>
          <a:xfrm>
            <a:off x="4743450" y="3837980"/>
            <a:ext cx="1161976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86"/>
              </a:lnSpc>
              <a:buNone/>
            </a:pPr>
            <a:r>
              <a:rPr lang="en-US" sz="800" spc="35" kern="0" dirty="0">
                <a:solidFill>
                  <a:srgbClr val="6B729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TOTAL PARAMS</a:t>
            </a:r>
            <a:endParaRPr lang="en-US" sz="800" dirty="0"/>
          </a:p>
        </p:txBody>
      </p:sp>
      <p:sp>
        <p:nvSpPr>
          <p:cNvPr id="50" name="Text 47"/>
          <p:cNvSpPr/>
          <p:nvPr/>
        </p:nvSpPr>
        <p:spPr>
          <a:xfrm>
            <a:off x="6048301" y="3537942"/>
            <a:ext cx="1276387" cy="498277"/>
          </a:xfrm>
          <a:prstGeom prst="roundRect">
            <a:avLst>
              <a:gd name="adj" fmla="val 26762"/>
            </a:avLst>
          </a:prstGeom>
          <a:solidFill>
            <a:srgbClr val="EEF1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8"/>
          <p:cNvSpPr/>
          <p:nvPr/>
        </p:nvSpPr>
        <p:spPr>
          <a:xfrm>
            <a:off x="6105451" y="3623667"/>
            <a:ext cx="1162087" cy="186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1463"/>
              </a:lnSpc>
              <a:buNone/>
            </a:pPr>
            <a:r>
              <a:rPr lang="en-US" sz="1463" b="1" spc="-15" kern="0" dirty="0">
                <a:solidFill>
                  <a:srgbClr val="FF6B6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119.6M</a:t>
            </a:r>
            <a:endParaRPr lang="en-US" sz="1463" dirty="0"/>
          </a:p>
        </p:txBody>
      </p:sp>
      <p:sp>
        <p:nvSpPr>
          <p:cNvPr id="52" name="Text 49"/>
          <p:cNvSpPr/>
          <p:nvPr/>
        </p:nvSpPr>
        <p:spPr>
          <a:xfrm>
            <a:off x="6105451" y="3837980"/>
            <a:ext cx="1162087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86"/>
              </a:lnSpc>
              <a:buNone/>
            </a:pPr>
            <a:r>
              <a:rPr lang="en-US" sz="800" spc="35" kern="0" dirty="0">
                <a:solidFill>
                  <a:srgbClr val="6B729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TRAINABLE</a:t>
            </a:r>
            <a:endParaRPr lang="en-US" sz="800" dirty="0"/>
          </a:p>
        </p:txBody>
      </p:sp>
      <p:sp>
        <p:nvSpPr>
          <p:cNvPr id="53" name="Text 50"/>
          <p:cNvSpPr/>
          <p:nvPr/>
        </p:nvSpPr>
        <p:spPr>
          <a:xfrm>
            <a:off x="7410413" y="3537942"/>
            <a:ext cx="1276387" cy="498277"/>
          </a:xfrm>
          <a:prstGeom prst="roundRect">
            <a:avLst>
              <a:gd name="adj" fmla="val 26762"/>
            </a:avLst>
          </a:prstGeom>
          <a:solidFill>
            <a:srgbClr val="EEF1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1"/>
          <p:cNvSpPr/>
          <p:nvPr/>
        </p:nvSpPr>
        <p:spPr>
          <a:xfrm>
            <a:off x="7467563" y="3623667"/>
            <a:ext cx="1162087" cy="186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1463"/>
              </a:lnSpc>
              <a:buNone/>
            </a:pPr>
            <a:r>
              <a:rPr lang="en-US" sz="1463" b="1" spc="-15" kern="0" dirty="0">
                <a:solidFill>
                  <a:srgbClr val="1E2A7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20.0M</a:t>
            </a:r>
            <a:endParaRPr lang="en-US" sz="1463" dirty="0"/>
          </a:p>
        </p:txBody>
      </p:sp>
      <p:sp>
        <p:nvSpPr>
          <p:cNvPr id="55" name="Text 52"/>
          <p:cNvSpPr/>
          <p:nvPr/>
        </p:nvSpPr>
        <p:spPr>
          <a:xfrm>
            <a:off x="7467563" y="3837980"/>
            <a:ext cx="1162087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86"/>
              </a:lnSpc>
              <a:buNone/>
            </a:pPr>
            <a:r>
              <a:rPr lang="en-US" sz="800" spc="35" kern="0" dirty="0">
                <a:solidFill>
                  <a:srgbClr val="6B729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FROZEN</a:t>
            </a:r>
            <a:endParaRPr lang="en-US" sz="800" dirty="0"/>
          </a:p>
        </p:txBody>
      </p:sp>
      <p:sp>
        <p:nvSpPr>
          <p:cNvPr id="56" name="Text 53"/>
          <p:cNvSpPr/>
          <p:nvPr/>
        </p:nvSpPr>
        <p:spPr>
          <a:xfrm>
            <a:off x="457200" y="4868466"/>
            <a:ext cx="76310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6B729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BRAIN TUMOR CLASSIFICATION · VGG19</a:t>
            </a:r>
            <a:endParaRPr lang="en-US" sz="800" dirty="0"/>
          </a:p>
        </p:txBody>
      </p:sp>
      <p:sp>
        <p:nvSpPr>
          <p:cNvPr id="57" name="Text 54"/>
          <p:cNvSpPr/>
          <p:nvPr/>
        </p:nvSpPr>
        <p:spPr>
          <a:xfrm>
            <a:off x="8099795" y="4868466"/>
            <a:ext cx="71738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spc="37" kern="0" dirty="0">
                <a:solidFill>
                  <a:srgbClr val="6B729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ARCHITECTURE</a:t>
            </a:r>
            <a:endParaRPr lang="en-US" sz="619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5764"/>
            <a:ext cx="42863" cy="42863"/>
          </a:xfrm>
          <a:prstGeom prst="roundRect">
            <a:avLst>
              <a:gd name="adj" fmla="val 66666"/>
            </a:avLst>
          </a:prstGeom>
          <a:solidFill>
            <a:srgbClr val="FF6B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171450"/>
            <a:ext cx="790578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6B729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 · MODEL CODE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367949" y="171450"/>
            <a:ext cx="4539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6B729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 / 12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600075"/>
            <a:ext cx="4657167" cy="4143375"/>
          </a:xfrm>
          <a:prstGeom prst="roundRect">
            <a:avLst>
              <a:gd name="adj" fmla="val 2759"/>
            </a:avLst>
          </a:prstGeom>
          <a:solidFill>
            <a:srgbClr val="0E13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57200" y="600075"/>
            <a:ext cx="4657167" cy="265323"/>
          </a:xfrm>
          <a:prstGeom prst="rect">
            <a:avLst/>
          </a:prstGeom>
          <a:solidFill>
            <a:srgbClr val="1A1F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57200" y="861826"/>
            <a:ext cx="4657167" cy="0"/>
          </a:xfrm>
          <a:prstGeom prst="line">
            <a:avLst/>
          </a:prstGeom>
          <a:noFill/>
          <a:ln w="7144">
            <a:solidFill>
              <a:srgbClr val="23296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57213" y="693390"/>
            <a:ext cx="71438" cy="71438"/>
          </a:xfrm>
          <a:prstGeom prst="ellipse">
            <a:avLst/>
          </a:prstGeom>
          <a:solidFill>
            <a:srgbClr val="FF6B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85800" y="693390"/>
            <a:ext cx="71438" cy="71438"/>
          </a:xfrm>
          <a:prstGeom prst="ellipse">
            <a:avLst/>
          </a:prstGeom>
          <a:solidFill>
            <a:srgbClr val="FFCB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14388" y="693390"/>
            <a:ext cx="71438" cy="71438"/>
          </a:xfrm>
          <a:prstGeom prst="ellipse">
            <a:avLst/>
          </a:prstGeom>
          <a:solidFill>
            <a:srgbClr val="1F9D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000125" y="664369"/>
            <a:ext cx="3676464" cy="129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1"/>
              </a:lnSpc>
              <a:buNone/>
            </a:pPr>
            <a:r>
              <a:rPr lang="en-US" sz="800" spc="37" kern="0" dirty="0">
                <a:solidFill>
                  <a:srgbClr val="8B92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CELL 1 · BUILD MODEL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656383" y="664369"/>
            <a:ext cx="406752" cy="129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1"/>
              </a:lnSpc>
              <a:buNone/>
            </a:pPr>
            <a:r>
              <a:rPr lang="en-US" sz="619" dirty="0">
                <a:solidFill>
                  <a:srgbClr val="6B729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model.py</a:t>
            </a:r>
            <a:endParaRPr lang="en-US" sz="619" dirty="0"/>
          </a:p>
        </p:txBody>
      </p:sp>
      <p:sp>
        <p:nvSpPr>
          <p:cNvPr id="13" name="Text 11"/>
          <p:cNvSpPr/>
          <p:nvPr/>
        </p:nvSpPr>
        <p:spPr>
          <a:xfrm>
            <a:off x="457200" y="865398"/>
            <a:ext cx="4657167" cy="3685764"/>
          </a:xfrm>
          <a:prstGeom prst="rect">
            <a:avLst/>
          </a:prstGeom>
          <a:noFill/>
          <a:ln/>
        </p:spPr>
        <p:txBody>
          <a:bodyPr wrap="none" lIns="128588" tIns="100013" rIns="128588" bIns="100013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D7DC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F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tensorflow.keras.applications</a:t>
            </a:r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D7DC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D7DC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82AA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VGG19</a:t>
            </a:r>
            <a:endParaRPr lang="en-US" sz="800" dirty="0"/>
          </a:p>
          <a:p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D7DC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F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tensorflow.keras.layers</a:t>
            </a:r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D7DC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D7DC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Flatten</a:t>
            </a:r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D7DC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Dense</a:t>
            </a:r>
            <a:endParaRPr lang="en-US" sz="800" dirty="0"/>
          </a:p>
          <a:p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D7DC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F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tensorflow.keras.models</a:t>
            </a:r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D7DC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D7DC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Sequential</a:t>
            </a:r>
            <a:endParaRPr lang="en-US" sz="800" dirty="0"/>
          </a:p>
          <a:p>
            <a:pPr algn="l" indent="0" marL="0">
              <a:lnSpc>
                <a:spcPts val="1160"/>
              </a:lnSpc>
              <a:buNone/>
            </a:pPr>
            <a:r>
              <a:rPr lang="en-US" sz="800" i="1" dirty="0">
                <a:solidFill>
                  <a:srgbClr val="6B729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# 1. Pretrained backbone — frozen</a:t>
            </a:r>
            <a:endParaRPr lang="en-US" sz="800" dirty="0"/>
          </a:p>
          <a:p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F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pretrained</a:t>
            </a:r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D7DC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D7DC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82AA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VGG19</a:t>
            </a:r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D7DC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(weights</a:t>
            </a:r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800" dirty="0"/>
          </a:p>
          <a:p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D7DC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include_top</a:t>
            </a:r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800" dirty="0"/>
          </a:p>
          <a:p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D7DC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input_shape</a:t>
            </a:r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D7DC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F78C6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224</a:t>
            </a:r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D7DC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F78C6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224</a:t>
            </a:r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D7DC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F78C6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D7DC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</a:t>
            </a:r>
            <a:endParaRPr lang="en-US" sz="800" dirty="0"/>
          </a:p>
          <a:p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D7DC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F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layer</a:t>
            </a:r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D7DC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D7DC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F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pretrained.layers</a:t>
            </a:r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800" dirty="0"/>
          </a:p>
          <a:p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F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layer.trainable</a:t>
            </a:r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D7DC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D7DC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800" dirty="0"/>
          </a:p>
          <a:p>
            <a:pPr algn="l" indent="0" marL="0">
              <a:lnSpc>
                <a:spcPts val="1160"/>
              </a:lnSpc>
              <a:buNone/>
            </a:pPr>
            <a:r>
              <a:rPr lang="en-US" sz="800" i="1" dirty="0">
                <a:solidFill>
                  <a:srgbClr val="6B729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# 2. Custom classification head</a:t>
            </a:r>
            <a:endParaRPr lang="en-US" sz="800" dirty="0"/>
          </a:p>
          <a:p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F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</a:t>
            </a:r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D7DC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D7DC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Sequential</a:t>
            </a:r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D7DC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([</a:t>
            </a:r>
            <a:endParaRPr lang="en-US" sz="800" dirty="0"/>
          </a:p>
          <a:p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F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pretrained</a:t>
            </a:r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800" dirty="0"/>
          </a:p>
          <a:p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Flatten</a:t>
            </a:r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D7DC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800" dirty="0"/>
          </a:p>
          <a:p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Dense</a:t>
            </a:r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D7DC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F78C6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4096</a:t>
            </a:r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D7DC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activation</a:t>
            </a:r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'relu'</a:t>
            </a:r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D7DC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800" dirty="0"/>
          </a:p>
          <a:p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Dense</a:t>
            </a:r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D7DC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F78C6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4096</a:t>
            </a:r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D7DC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activation</a:t>
            </a:r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'relu'</a:t>
            </a:r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D7DC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800" dirty="0"/>
          </a:p>
          <a:p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Dense</a:t>
            </a:r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D7DC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F78C6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D7DC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activation</a:t>
            </a:r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'softmax'</a:t>
            </a:r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D7DC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800" dirty="0"/>
          </a:p>
          <a:p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D7DC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291532" y="589574"/>
            <a:ext cx="1008564" cy="196025"/>
          </a:xfrm>
          <a:prstGeom prst="roundRect">
            <a:avLst>
              <a:gd name="adj" fmla="val 4854215"/>
            </a:avLst>
          </a:prstGeom>
          <a:solidFill>
            <a:srgbClr val="E5E8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314392" y="600075"/>
            <a:ext cx="96284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1E2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TRANSFER LEARNING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314392" y="832247"/>
            <a:ext cx="3709649" cy="240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463" b="1" spc="-15" kern="0" dirty="0">
                <a:solidFill>
                  <a:srgbClr val="0E13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Freeze the backbone, train the head.</a:t>
            </a:r>
            <a:endParaRPr lang="en-US" sz="1463" dirty="0"/>
          </a:p>
        </p:txBody>
      </p:sp>
      <p:sp>
        <p:nvSpPr>
          <p:cNvPr id="17" name="Text 15"/>
          <p:cNvSpPr/>
          <p:nvPr/>
        </p:nvSpPr>
        <p:spPr>
          <a:xfrm>
            <a:off x="6217741" y="1147911"/>
            <a:ext cx="800100" cy="128588"/>
          </a:xfrm>
          <a:prstGeom prst="roundRect">
            <a:avLst>
              <a:gd name="adj" fmla="val 29630"/>
            </a:avLst>
          </a:prstGeom>
          <a:solidFill>
            <a:srgbClr val="EEF1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826076" y="1296479"/>
            <a:ext cx="1057275" cy="128588"/>
          </a:xfrm>
          <a:prstGeom prst="roundRect">
            <a:avLst>
              <a:gd name="adj" fmla="val 29630"/>
            </a:avLst>
          </a:prstGeom>
          <a:solidFill>
            <a:srgbClr val="EEF1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314392" y="1140768"/>
            <a:ext cx="3372408" cy="6811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800" dirty="0">
                <a:solidFill>
                  <a:srgbClr val="3A3F5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VGG19 is loaded with </a:t>
            </a:r>
            <a:pPr algn="l" indent="0" marL="0">
              <a:lnSpc>
                <a:spcPts val="1170"/>
              </a:lnSpc>
              <a:buNone/>
            </a:pPr>
            <a:r>
              <a:rPr lang="en-US" sz="800" dirty="0">
                <a:solidFill>
                  <a:srgbClr val="3A3F5C"/>
                </a:solidFill>
                <a:highlight>
                  <a:srgbClr val="EEF1F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include_top=False</a:t>
            </a:r>
            <a:pPr algn="l" indent="0" marL="0">
              <a:lnSpc>
                <a:spcPts val="1170"/>
              </a:lnSpc>
              <a:buNone/>
            </a:pPr>
            <a:r>
              <a:rPr lang="en-US" sz="800" dirty="0">
                <a:solidFill>
                  <a:srgbClr val="3A3F5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so its 1000-class ImageNet classifier is dropped. We freeze every conv layer (</a:t>
            </a:r>
            <a:pPr algn="l" indent="0" marL="0">
              <a:lnSpc>
                <a:spcPts val="1170"/>
              </a:lnSpc>
              <a:buNone/>
            </a:pPr>
            <a:r>
              <a:rPr lang="en-US" sz="800" dirty="0">
                <a:solidFill>
                  <a:srgbClr val="3A3F5C"/>
                </a:solidFill>
                <a:highlight>
                  <a:srgbClr val="EEF1F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layer.trainable = False</a:t>
            </a:r>
            <a:pPr algn="l" indent="0" marL="0">
              <a:lnSpc>
                <a:spcPts val="1170"/>
              </a:lnSpc>
              <a:buNone/>
            </a:pPr>
            <a:r>
              <a:rPr lang="en-US" sz="800" dirty="0">
                <a:solidFill>
                  <a:srgbClr val="3A3F5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) so backprop touches only our new dense head. The head mirrors VGG19's original top — two 4096-unit ReLU layers — but ends in a 4-way softmax tuned to our tumor classes.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317964" y="1852910"/>
            <a:ext cx="3365264" cy="421481"/>
          </a:xfrm>
          <a:prstGeom prst="roundRect">
            <a:avLst>
              <a:gd name="adj" fmla="val 22599"/>
            </a:avLst>
          </a:prstGeom>
          <a:solidFill>
            <a:srgbClr val="FFFFFF"/>
          </a:solidFill>
          <a:ln w="7144">
            <a:solidFill>
              <a:srgbClr val="D7DCEB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421548" y="1935063"/>
            <a:ext cx="257175" cy="257175"/>
          </a:xfrm>
          <a:prstGeom prst="roundRect">
            <a:avLst>
              <a:gd name="adj" fmla="val 33333"/>
            </a:avLst>
          </a:prstGeom>
          <a:solidFill>
            <a:srgbClr val="E5E8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446551" y="1960066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1E2A7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❄</a:t>
            </a:r>
            <a:endParaRPr lang="en-US" sz="1406" dirty="0"/>
          </a:p>
        </p:txBody>
      </p:sp>
      <p:sp>
        <p:nvSpPr>
          <p:cNvPr id="23" name="Text 21"/>
          <p:cNvSpPr/>
          <p:nvPr/>
        </p:nvSpPr>
        <p:spPr>
          <a:xfrm>
            <a:off x="5764448" y="1945332"/>
            <a:ext cx="1221073" cy="1024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11"/>
              </a:lnSpc>
              <a:buNone/>
            </a:pPr>
            <a:r>
              <a:rPr lang="en-US" sz="800" b="1" dirty="0">
                <a:solidFill>
                  <a:srgbClr val="0E13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Backbone frozen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764448" y="2075259"/>
            <a:ext cx="1125221" cy="1169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1"/>
              </a:lnSpc>
              <a:buNone/>
            </a:pPr>
            <a:r>
              <a:rPr lang="en-US" sz="647" dirty="0">
                <a:solidFill>
                  <a:srgbClr val="6B729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ImageNet features preserved</a:t>
            </a:r>
            <a:endParaRPr lang="en-US" sz="647" dirty="0"/>
          </a:p>
        </p:txBody>
      </p:sp>
      <p:sp>
        <p:nvSpPr>
          <p:cNvPr id="25" name="Text 23"/>
          <p:cNvSpPr/>
          <p:nvPr/>
        </p:nvSpPr>
        <p:spPr>
          <a:xfrm>
            <a:off x="5317964" y="2352973"/>
            <a:ext cx="3365264" cy="421481"/>
          </a:xfrm>
          <a:prstGeom prst="roundRect">
            <a:avLst>
              <a:gd name="adj" fmla="val 22599"/>
            </a:avLst>
          </a:prstGeom>
          <a:solidFill>
            <a:srgbClr val="FFFFFF"/>
          </a:solidFill>
          <a:ln w="7144">
            <a:solidFill>
              <a:srgbClr val="D7DCEB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421548" y="2435126"/>
            <a:ext cx="257175" cy="257175"/>
          </a:xfrm>
          <a:prstGeom prst="roundRect">
            <a:avLst>
              <a:gd name="adj" fmla="val 33333"/>
            </a:avLst>
          </a:prstGeom>
          <a:solidFill>
            <a:srgbClr val="FF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446551" y="2460129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B23A3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406" dirty="0"/>
          </a:p>
        </p:txBody>
      </p:sp>
      <p:sp>
        <p:nvSpPr>
          <p:cNvPr id="28" name="Text 26"/>
          <p:cNvSpPr/>
          <p:nvPr/>
        </p:nvSpPr>
        <p:spPr>
          <a:xfrm>
            <a:off x="5764448" y="2445395"/>
            <a:ext cx="1261366" cy="1024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11"/>
              </a:lnSpc>
              <a:buNone/>
            </a:pPr>
            <a:r>
              <a:rPr lang="en-US" sz="800" b="1" dirty="0">
                <a:solidFill>
                  <a:srgbClr val="0E13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Head trainable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764448" y="2575322"/>
            <a:ext cx="1162351" cy="1169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1"/>
              </a:lnSpc>
              <a:buNone/>
            </a:pPr>
            <a:r>
              <a:rPr lang="en-US" sz="647" dirty="0">
                <a:solidFill>
                  <a:srgbClr val="6B729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learns tumor-specific patterns</a:t>
            </a:r>
            <a:endParaRPr lang="en-US" sz="647" dirty="0"/>
          </a:p>
        </p:txBody>
      </p:sp>
      <p:sp>
        <p:nvSpPr>
          <p:cNvPr id="30" name="Text 28"/>
          <p:cNvSpPr/>
          <p:nvPr/>
        </p:nvSpPr>
        <p:spPr>
          <a:xfrm>
            <a:off x="5317964" y="2853035"/>
            <a:ext cx="3365264" cy="421481"/>
          </a:xfrm>
          <a:prstGeom prst="roundRect">
            <a:avLst>
              <a:gd name="adj" fmla="val 22599"/>
            </a:avLst>
          </a:prstGeom>
          <a:solidFill>
            <a:srgbClr val="FFFFFF"/>
          </a:solidFill>
          <a:ln w="7144">
            <a:solidFill>
              <a:srgbClr val="D7DCEB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421548" y="2935188"/>
            <a:ext cx="257175" cy="257175"/>
          </a:xfrm>
          <a:prstGeom prst="roundRect">
            <a:avLst>
              <a:gd name="adj" fmla="val 33333"/>
            </a:avLst>
          </a:prstGeom>
          <a:solidFill>
            <a:srgbClr val="E5E8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446551" y="2960191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1E2A7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406" dirty="0"/>
          </a:p>
        </p:txBody>
      </p:sp>
      <p:sp>
        <p:nvSpPr>
          <p:cNvPr id="33" name="Text 31"/>
          <p:cNvSpPr/>
          <p:nvPr/>
        </p:nvSpPr>
        <p:spPr>
          <a:xfrm>
            <a:off x="5764448" y="2945457"/>
            <a:ext cx="1560028" cy="1024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11"/>
              </a:lnSpc>
              <a:buNone/>
            </a:pPr>
            <a:r>
              <a:rPr lang="en-US" sz="800" b="1" dirty="0">
                <a:solidFill>
                  <a:srgbClr val="0E13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Faster training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764448" y="3075384"/>
            <a:ext cx="1437568" cy="1169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1"/>
              </a:lnSpc>
              <a:buNone/>
            </a:pPr>
            <a:r>
              <a:rPr lang="en-US" sz="647" dirty="0">
                <a:solidFill>
                  <a:srgbClr val="6B729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only ~120M of 378M params update</a:t>
            </a:r>
            <a:endParaRPr lang="en-US" sz="647" dirty="0"/>
          </a:p>
        </p:txBody>
      </p:sp>
      <p:sp>
        <p:nvSpPr>
          <p:cNvPr id="35" name="Text 33"/>
          <p:cNvSpPr/>
          <p:nvPr/>
        </p:nvSpPr>
        <p:spPr>
          <a:xfrm>
            <a:off x="457200" y="4868466"/>
            <a:ext cx="736252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6B729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BRAIN TUMOR CLASSIFICATION · VGG19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7834015" y="4868466"/>
            <a:ext cx="103903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spc="37" kern="0" dirty="0">
                <a:solidFill>
                  <a:srgbClr val="6B729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BUILDING THE MODEL</a:t>
            </a:r>
            <a:endParaRPr lang="en-US" sz="619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5764"/>
            <a:ext cx="42863" cy="42863"/>
          </a:xfrm>
          <a:prstGeom prst="roundRect">
            <a:avLst>
              <a:gd name="adj" fmla="val 66666"/>
            </a:avLst>
          </a:prstGeom>
          <a:solidFill>
            <a:srgbClr val="FF6B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171450"/>
            <a:ext cx="790578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6B729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 · TRAINING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367949" y="171450"/>
            <a:ext cx="4539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6B729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07 / 12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600075"/>
            <a:ext cx="4657167" cy="4143375"/>
          </a:xfrm>
          <a:prstGeom prst="roundRect">
            <a:avLst>
              <a:gd name="adj" fmla="val 2759"/>
            </a:avLst>
          </a:prstGeom>
          <a:solidFill>
            <a:srgbClr val="0E13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57200" y="600075"/>
            <a:ext cx="4657167" cy="265323"/>
          </a:xfrm>
          <a:prstGeom prst="rect">
            <a:avLst/>
          </a:prstGeom>
          <a:solidFill>
            <a:srgbClr val="1A1F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57200" y="861826"/>
            <a:ext cx="4657167" cy="0"/>
          </a:xfrm>
          <a:prstGeom prst="line">
            <a:avLst/>
          </a:prstGeom>
          <a:noFill/>
          <a:ln w="7144">
            <a:solidFill>
              <a:srgbClr val="23296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57213" y="693390"/>
            <a:ext cx="71438" cy="71438"/>
          </a:xfrm>
          <a:prstGeom prst="ellipse">
            <a:avLst/>
          </a:prstGeom>
          <a:solidFill>
            <a:srgbClr val="FF6B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85800" y="693390"/>
            <a:ext cx="71438" cy="71438"/>
          </a:xfrm>
          <a:prstGeom prst="ellipse">
            <a:avLst/>
          </a:prstGeom>
          <a:solidFill>
            <a:srgbClr val="FFCB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14388" y="693390"/>
            <a:ext cx="71438" cy="71438"/>
          </a:xfrm>
          <a:prstGeom prst="ellipse">
            <a:avLst/>
          </a:prstGeom>
          <a:solidFill>
            <a:srgbClr val="1F9D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000125" y="664369"/>
            <a:ext cx="3732944" cy="129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1"/>
              </a:lnSpc>
              <a:buNone/>
            </a:pPr>
            <a:r>
              <a:rPr lang="en-US" sz="800" spc="37" kern="0" dirty="0">
                <a:solidFill>
                  <a:srgbClr val="8B92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CELL 1 · COMPILE + CALLBACKS + FIT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684623" y="664369"/>
            <a:ext cx="406752" cy="129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1"/>
              </a:lnSpc>
              <a:buNone/>
            </a:pPr>
            <a:r>
              <a:rPr lang="en-US" sz="619" dirty="0">
                <a:solidFill>
                  <a:srgbClr val="6B729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train.py</a:t>
            </a:r>
            <a:endParaRPr lang="en-US" sz="619" dirty="0"/>
          </a:p>
        </p:txBody>
      </p:sp>
      <p:sp>
        <p:nvSpPr>
          <p:cNvPr id="13" name="Text 11"/>
          <p:cNvSpPr/>
          <p:nvPr/>
        </p:nvSpPr>
        <p:spPr>
          <a:xfrm>
            <a:off x="457200" y="865398"/>
            <a:ext cx="4657167" cy="3878052"/>
          </a:xfrm>
          <a:prstGeom prst="rect">
            <a:avLst/>
          </a:prstGeom>
          <a:noFill/>
          <a:ln/>
        </p:spPr>
        <p:txBody>
          <a:bodyPr wrap="none" lIns="128588" tIns="85725" rIns="128588" bIns="85725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F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</a:t>
            </a:r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compile</a:t>
            </a:r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D7DC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(optimizer</a:t>
            </a:r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'Adam'</a:t>
            </a:r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800" dirty="0"/>
          </a:p>
          <a:p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D7DC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loss</a:t>
            </a:r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'categorical_crossentropy'</a:t>
            </a:r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800" dirty="0"/>
          </a:p>
          <a:p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D7DC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metrics</a:t>
            </a:r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D7DC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endParaRPr lang="en-US" sz="800" dirty="0"/>
          </a:p>
          <a:p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CategoricalAccuracy</a:t>
            </a:r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D7DC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(name</a:t>
            </a:r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'accuracy'</a:t>
            </a:r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D7DC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800" dirty="0"/>
          </a:p>
          <a:p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Precision</a:t>
            </a:r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D7DC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(name</a:t>
            </a:r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'precision'</a:t>
            </a:r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D7DC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800" dirty="0"/>
          </a:p>
          <a:p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Recall</a:t>
            </a:r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D7DC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(name</a:t>
            </a:r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'recall'</a:t>
            </a:r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D7DC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800" dirty="0"/>
          </a:p>
          <a:p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AUC</a:t>
            </a:r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D7DC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(name</a:t>
            </a:r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'auc'</a:t>
            </a:r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D7DC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800" dirty="0"/>
          </a:p>
          <a:p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D7DC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endParaRPr lang="en-US" sz="800" dirty="0"/>
          </a:p>
          <a:p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F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checkpoint</a:t>
            </a:r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D7DC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D7DC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ModelCheckpoint</a:t>
            </a:r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D7DC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800" dirty="0"/>
          </a:p>
          <a:p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D7DC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filepath</a:t>
            </a:r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F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checkpoint_path</a:t>
            </a:r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800" dirty="0"/>
          </a:p>
          <a:p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D7DC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save_best_only</a:t>
            </a:r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D7DC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verbose</a:t>
            </a:r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F78C6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D7DC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800" dirty="0"/>
          </a:p>
          <a:p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D7DC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SaveHistoryCallback</a:t>
            </a:r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D7DC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F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tf.keras.callbacks.Callback</a:t>
            </a:r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D7DC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800" dirty="0"/>
          </a:p>
          <a:p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D7DC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on_epoch_end</a:t>
            </a:r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D7DC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D7DC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F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epoch</a:t>
            </a:r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D7DC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logs</a:t>
            </a:r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D7DC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800" dirty="0"/>
          </a:p>
          <a:p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D7DC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F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</a:t>
            </a:r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D7DC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D7DC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F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history</a:t>
            </a:r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D7DC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F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history[k]</a:t>
            </a:r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append</a:t>
            </a:r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D7DC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F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logs[k]</a:t>
            </a:r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D7DC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800" dirty="0"/>
          </a:p>
          <a:p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</a:t>
            </a:r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D7DC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</a:t>
            </a:r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D7DC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F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history_path</a:t>
            </a:r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'wb'</a:t>
            </a:r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D7DC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</a:t>
            </a:r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D7DC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F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800" dirty="0"/>
          </a:p>
          <a:p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F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pickle</a:t>
            </a:r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dump</a:t>
            </a:r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D7DC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F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history</a:t>
            </a:r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D7DC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F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D7DC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800" dirty="0"/>
          </a:p>
          <a:p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F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</a:t>
            </a:r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fit</a:t>
            </a:r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D7DC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F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train_generator</a:t>
            </a:r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800" dirty="0"/>
          </a:p>
          <a:p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D7DC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epochs</a:t>
            </a:r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F78C6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100</a:t>
            </a:r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800" dirty="0"/>
          </a:p>
          <a:p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D7DC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validation_data</a:t>
            </a:r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F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validation_generator</a:t>
            </a:r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800" dirty="0"/>
          </a:p>
          <a:p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D7DC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callbacks</a:t>
            </a:r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D7DC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F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checkpoint</a:t>
            </a:r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D7DC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F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history_callback</a:t>
            </a:r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D7DC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291532" y="589574"/>
            <a:ext cx="1206356" cy="196025"/>
          </a:xfrm>
          <a:prstGeom prst="roundRect">
            <a:avLst>
              <a:gd name="adj" fmla="val 4854215"/>
            </a:avLst>
          </a:prstGeom>
          <a:solidFill>
            <a:srgbClr val="E5E8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314392" y="600075"/>
            <a:ext cx="116063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1E2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TRAINING CONFIGURATION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314392" y="832247"/>
            <a:ext cx="3709649" cy="222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b="1" spc="-13" kern="0" dirty="0">
                <a:solidFill>
                  <a:srgbClr val="0E13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Resumable, multi-metric training.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314392" y="1109402"/>
            <a:ext cx="3372408" cy="3351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3A3F5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We log four metrics per epoch — accuracy, precision, recall, AUC — and persist the full history to disk after every epoch so training can be resumed without losing curves.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317964" y="1475519"/>
            <a:ext cx="1643286" cy="398599"/>
          </a:xfrm>
          <a:prstGeom prst="roundRect">
            <a:avLst>
              <a:gd name="adj" fmla="val 23896"/>
            </a:avLst>
          </a:prstGeom>
          <a:solidFill>
            <a:srgbClr val="FFFFFF"/>
          </a:solidFill>
          <a:ln w="7144">
            <a:solidFill>
              <a:srgbClr val="D7DCEB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407261" y="1550529"/>
            <a:ext cx="1464692" cy="101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34" kern="0" dirty="0">
                <a:solidFill>
                  <a:srgbClr val="6B729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OPTIMIZER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407261" y="1679116"/>
            <a:ext cx="1464692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b="1" dirty="0">
                <a:solidFill>
                  <a:srgbClr val="1E2A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Adam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039831" y="1475519"/>
            <a:ext cx="1643397" cy="398599"/>
          </a:xfrm>
          <a:prstGeom prst="roundRect">
            <a:avLst>
              <a:gd name="adj" fmla="val 23896"/>
            </a:avLst>
          </a:prstGeom>
          <a:solidFill>
            <a:srgbClr val="FFFFFF"/>
          </a:solidFill>
          <a:ln w="7144">
            <a:solidFill>
              <a:srgbClr val="D7DCEB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129128" y="1550529"/>
            <a:ext cx="1464804" cy="101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34" kern="0" dirty="0">
                <a:solidFill>
                  <a:srgbClr val="6B729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LOSS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129128" y="1679116"/>
            <a:ext cx="1552692" cy="1199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b="1" dirty="0">
                <a:solidFill>
                  <a:srgbClr val="1E2A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categorical_crossentropy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317964" y="1952699"/>
            <a:ext cx="1643286" cy="398599"/>
          </a:xfrm>
          <a:prstGeom prst="roundRect">
            <a:avLst>
              <a:gd name="adj" fmla="val 23896"/>
            </a:avLst>
          </a:prstGeom>
          <a:solidFill>
            <a:srgbClr val="FFFFFF"/>
          </a:solidFill>
          <a:ln w="7144">
            <a:solidFill>
              <a:srgbClr val="D7DCEB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407261" y="2027709"/>
            <a:ext cx="1464692" cy="101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34" kern="0" dirty="0">
                <a:solidFill>
                  <a:srgbClr val="6B729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BATCH SIZE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407261" y="2156296"/>
            <a:ext cx="1464692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b="1" dirty="0">
                <a:solidFill>
                  <a:srgbClr val="1E2A7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100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039831" y="1952699"/>
            <a:ext cx="1643397" cy="398599"/>
          </a:xfrm>
          <a:prstGeom prst="roundRect">
            <a:avLst>
              <a:gd name="adj" fmla="val 23896"/>
            </a:avLst>
          </a:prstGeom>
          <a:solidFill>
            <a:srgbClr val="FFFFFF"/>
          </a:solidFill>
          <a:ln w="7144">
            <a:solidFill>
              <a:srgbClr val="D7DCEB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7129128" y="2027709"/>
            <a:ext cx="1464804" cy="101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34" kern="0" dirty="0">
                <a:solidFill>
                  <a:srgbClr val="6B729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EPOCHS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129128" y="2156296"/>
            <a:ext cx="1464804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b="1" dirty="0">
                <a:solidFill>
                  <a:srgbClr val="1E2A7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100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317964" y="2429880"/>
            <a:ext cx="1643286" cy="398599"/>
          </a:xfrm>
          <a:prstGeom prst="roundRect">
            <a:avLst>
              <a:gd name="adj" fmla="val 23896"/>
            </a:avLst>
          </a:prstGeom>
          <a:solidFill>
            <a:srgbClr val="FFFFFF"/>
          </a:solidFill>
          <a:ln w="7144">
            <a:solidFill>
              <a:srgbClr val="D7DCEB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407261" y="2504889"/>
            <a:ext cx="1464692" cy="101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34" kern="0" dirty="0">
                <a:solidFill>
                  <a:srgbClr val="6B729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STEPS / EPOCH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407261" y="2633476"/>
            <a:ext cx="1464692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b="1" dirty="0">
                <a:solidFill>
                  <a:srgbClr val="1E2A7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46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039831" y="2429880"/>
            <a:ext cx="1643397" cy="398599"/>
          </a:xfrm>
          <a:prstGeom prst="roundRect">
            <a:avLst>
              <a:gd name="adj" fmla="val 23896"/>
            </a:avLst>
          </a:prstGeom>
          <a:solidFill>
            <a:srgbClr val="FFFFFF"/>
          </a:solidFill>
          <a:ln w="7144">
            <a:solidFill>
              <a:srgbClr val="D7DCEB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7129128" y="2504889"/>
            <a:ext cx="1464804" cy="101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34" kern="0" dirty="0">
                <a:solidFill>
                  <a:srgbClr val="6B729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VAL STEPS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7129128" y="2633476"/>
            <a:ext cx="1464804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b="1" dirty="0">
                <a:solidFill>
                  <a:srgbClr val="1E2A7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16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314392" y="2924919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FF6B6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◔</a:t>
            </a:r>
            <a:endParaRPr lang="en-US" sz="1125" dirty="0"/>
          </a:p>
        </p:txBody>
      </p:sp>
      <p:sp>
        <p:nvSpPr>
          <p:cNvPr id="37" name="Text 35"/>
          <p:cNvSpPr/>
          <p:nvPr/>
        </p:nvSpPr>
        <p:spPr>
          <a:xfrm>
            <a:off x="5485842" y="2917775"/>
            <a:ext cx="320095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b="1" spc="27" kern="0" dirty="0">
                <a:solidFill>
                  <a:srgbClr val="3A3F5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CALLBACKS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314392" y="3103513"/>
            <a:ext cx="1433326" cy="194667"/>
          </a:xfrm>
          <a:prstGeom prst="roundRect">
            <a:avLst>
              <a:gd name="adj" fmla="val 4888078"/>
            </a:avLst>
          </a:prstGeom>
          <a:solidFill>
            <a:srgbClr val="E5E8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5542992" y="3146375"/>
            <a:ext cx="1233301" cy="133582"/>
          </a:xfrm>
          <a:prstGeom prst="rect">
            <a:avLst/>
          </a:prstGeom>
          <a:noFill/>
          <a:ln/>
        </p:spPr>
        <p:txBody>
          <a:bodyPr wrap="none" lIns="85725" tIns="35719" rIns="85725" bIns="35719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647" dirty="0">
                <a:solidFill>
                  <a:srgbClr val="1E2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ModelCheckpoint (every epoch)</a:t>
            </a:r>
            <a:endParaRPr lang="en-US" sz="647" dirty="0"/>
          </a:p>
        </p:txBody>
      </p:sp>
      <p:sp>
        <p:nvSpPr>
          <p:cNvPr id="40" name="Text 38"/>
          <p:cNvSpPr/>
          <p:nvPr/>
        </p:nvSpPr>
        <p:spPr>
          <a:xfrm>
            <a:off x="5400117" y="3150840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1E2A7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⤓</a:t>
            </a:r>
            <a:endParaRPr lang="en-US" sz="984" dirty="0"/>
          </a:p>
        </p:txBody>
      </p:sp>
      <p:sp>
        <p:nvSpPr>
          <p:cNvPr id="41" name="Text 39"/>
          <p:cNvSpPr/>
          <p:nvPr/>
        </p:nvSpPr>
        <p:spPr>
          <a:xfrm>
            <a:off x="6804868" y="3103513"/>
            <a:ext cx="1482551" cy="194667"/>
          </a:xfrm>
          <a:prstGeom prst="roundRect">
            <a:avLst>
              <a:gd name="adj" fmla="val 4888078"/>
            </a:avLst>
          </a:prstGeom>
          <a:solidFill>
            <a:srgbClr val="FF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7033468" y="3146375"/>
            <a:ext cx="1653332" cy="133582"/>
          </a:xfrm>
          <a:prstGeom prst="rect">
            <a:avLst/>
          </a:prstGeom>
          <a:noFill/>
          <a:ln/>
        </p:spPr>
        <p:txBody>
          <a:bodyPr wrap="none" lIns="85725" tIns="35719" rIns="85725" bIns="35719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647" dirty="0">
                <a:solidFill>
                  <a:srgbClr val="B23A3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SaveHistoryCallback (history.pkl)</a:t>
            </a:r>
            <a:endParaRPr lang="en-US" sz="647" dirty="0"/>
          </a:p>
        </p:txBody>
      </p:sp>
      <p:sp>
        <p:nvSpPr>
          <p:cNvPr id="43" name="Text 41"/>
          <p:cNvSpPr/>
          <p:nvPr/>
        </p:nvSpPr>
        <p:spPr>
          <a:xfrm>
            <a:off x="6890593" y="3150840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B23A3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984" dirty="0"/>
          </a:p>
        </p:txBody>
      </p:sp>
      <p:sp>
        <p:nvSpPr>
          <p:cNvPr id="44" name="Text 42"/>
          <p:cNvSpPr/>
          <p:nvPr/>
        </p:nvSpPr>
        <p:spPr>
          <a:xfrm>
            <a:off x="457200" y="4868466"/>
            <a:ext cx="719152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6B729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BRAIN TUMOR CLASSIFICATION · VGG19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7663011" y="4868466"/>
            <a:ext cx="117367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spc="37" kern="0" dirty="0">
                <a:solidFill>
                  <a:srgbClr val="6B729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TRAINING CONFIGURATION</a:t>
            </a:r>
            <a:endParaRPr lang="en-US" sz="619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5764"/>
            <a:ext cx="42863" cy="42863"/>
          </a:xfrm>
          <a:prstGeom prst="roundRect">
            <a:avLst>
              <a:gd name="adj" fmla="val 66666"/>
            </a:avLst>
          </a:prstGeom>
          <a:solidFill>
            <a:srgbClr val="FF6B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171450"/>
            <a:ext cx="790578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6B729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07 · TRAINING CURVES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367949" y="171450"/>
            <a:ext cx="4539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6B729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08 / 12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34340" y="589574"/>
            <a:ext cx="1015149" cy="196025"/>
          </a:xfrm>
          <a:prstGeom prst="roundRect">
            <a:avLst>
              <a:gd name="adj" fmla="val 4854215"/>
            </a:avLst>
          </a:prstGeom>
          <a:solidFill>
            <a:srgbClr val="E5E8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57200" y="600075"/>
            <a:ext cx="96942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1E2A7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CELL 4 · MATPLOTLIB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832247"/>
            <a:ext cx="5476254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6"/>
              </a:lnSpc>
              <a:buNone/>
            </a:pPr>
            <a:r>
              <a:rPr lang="en-US" sz="1125" dirty="0">
                <a:solidFill>
                  <a:srgbClr val="0E13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Model accuracy &amp; loss over 100 epochs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460772" y="1085850"/>
            <a:ext cx="4971269" cy="3468291"/>
          </a:xfrm>
          <a:prstGeom prst="roundRect">
            <a:avLst>
              <a:gd name="adj" fmla="val 2746"/>
            </a:avLst>
          </a:prstGeom>
          <a:solidFill>
            <a:srgbClr val="FFFFFF"/>
          </a:solidFill>
          <a:ln w="7144">
            <a:solidFill>
              <a:srgbClr val="D7DCEB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9" name="Image 0" descr="/tmp/h2p-fit-1785394157794-7kie7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0069" y="1630896"/>
            <a:ext cx="4792675" cy="2378087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57200" y="4614863"/>
            <a:ext cx="49784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6B729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Train vs validation. Left: accuracy. Right: loss.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5612777" y="589574"/>
            <a:ext cx="1214170" cy="196025"/>
          </a:xfrm>
          <a:prstGeom prst="roundRect">
            <a:avLst>
              <a:gd name="adj" fmla="val 4854215"/>
            </a:avLst>
          </a:prstGeom>
          <a:solidFill>
            <a:srgbClr val="FF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5635637" y="600075"/>
            <a:ext cx="116845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B23A3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OBSERVED CONVERGENCE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5635637" y="832247"/>
            <a:ext cx="3356279" cy="222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b="1" spc="-13" kern="0" dirty="0">
                <a:solidFill>
                  <a:srgbClr val="0E133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Stable convergence by ~epoch 30.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5639209" y="1155836"/>
            <a:ext cx="3044019" cy="464344"/>
          </a:xfrm>
          <a:prstGeom prst="roundRect">
            <a:avLst>
              <a:gd name="adj" fmla="val 24615"/>
            </a:avLst>
          </a:prstGeom>
          <a:solidFill>
            <a:srgbClr val="FFFFFF"/>
          </a:solidFill>
          <a:ln w="7144">
            <a:solidFill>
              <a:srgbClr val="D7DCEB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5742794" y="1252277"/>
            <a:ext cx="271463" cy="271463"/>
          </a:xfrm>
          <a:prstGeom prst="roundRect">
            <a:avLst>
              <a:gd name="adj" fmla="val 35088"/>
            </a:avLst>
          </a:prstGeom>
          <a:solidFill>
            <a:srgbClr val="E5E8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5774941" y="1284424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1E2A7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↗</a:t>
            </a:r>
            <a:endParaRPr lang="en-US" sz="1406" dirty="0"/>
          </a:p>
        </p:txBody>
      </p:sp>
      <p:sp>
        <p:nvSpPr>
          <p:cNvPr id="17" name="Text 14"/>
          <p:cNvSpPr/>
          <p:nvPr/>
        </p:nvSpPr>
        <p:spPr>
          <a:xfrm>
            <a:off x="6099981" y="1252277"/>
            <a:ext cx="1855879" cy="114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49"/>
              </a:lnSpc>
              <a:buNone/>
            </a:pPr>
            <a:r>
              <a:rPr lang="en-US" sz="759" b="1" dirty="0">
                <a:solidFill>
                  <a:srgbClr val="0E13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Validation accuracy plateaus near 95%</a:t>
            </a:r>
            <a:endParaRPr lang="en-US" sz="759" dirty="0"/>
          </a:p>
        </p:txBody>
      </p:sp>
      <p:sp>
        <p:nvSpPr>
          <p:cNvPr id="18" name="Text 15"/>
          <p:cNvSpPr/>
          <p:nvPr/>
        </p:nvSpPr>
        <p:spPr>
          <a:xfrm>
            <a:off x="6099981" y="1394259"/>
            <a:ext cx="1855879" cy="129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6"/>
              </a:lnSpc>
              <a:buNone/>
            </a:pPr>
            <a:r>
              <a:rPr lang="en-US" sz="647" dirty="0">
                <a:solidFill>
                  <a:srgbClr val="6B729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from ~62% at epoch 1 to 94.75% by epoch 100</a:t>
            </a:r>
            <a:endParaRPr lang="en-US" sz="647" dirty="0"/>
          </a:p>
        </p:txBody>
      </p:sp>
      <p:sp>
        <p:nvSpPr>
          <p:cNvPr id="19" name="Text 16"/>
          <p:cNvSpPr/>
          <p:nvPr/>
        </p:nvSpPr>
        <p:spPr>
          <a:xfrm>
            <a:off x="5639209" y="1698761"/>
            <a:ext cx="3044019" cy="464344"/>
          </a:xfrm>
          <a:prstGeom prst="roundRect">
            <a:avLst>
              <a:gd name="adj" fmla="val 24615"/>
            </a:avLst>
          </a:prstGeom>
          <a:solidFill>
            <a:srgbClr val="FFFFFF"/>
          </a:solidFill>
          <a:ln w="7144">
            <a:solidFill>
              <a:srgbClr val="D7DCEB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5742794" y="1795202"/>
            <a:ext cx="271463" cy="271463"/>
          </a:xfrm>
          <a:prstGeom prst="roundRect">
            <a:avLst>
              <a:gd name="adj" fmla="val 35088"/>
            </a:avLst>
          </a:prstGeom>
          <a:solidFill>
            <a:srgbClr val="FF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5774941" y="1827349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B23A3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↘</a:t>
            </a:r>
            <a:endParaRPr lang="en-US" sz="1406" dirty="0"/>
          </a:p>
        </p:txBody>
      </p:sp>
      <p:sp>
        <p:nvSpPr>
          <p:cNvPr id="22" name="Text 19"/>
          <p:cNvSpPr/>
          <p:nvPr/>
        </p:nvSpPr>
        <p:spPr>
          <a:xfrm>
            <a:off x="6099981" y="1795202"/>
            <a:ext cx="2023565" cy="114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49"/>
              </a:lnSpc>
              <a:buNone/>
            </a:pPr>
            <a:r>
              <a:rPr lang="en-US" sz="800" b="1" dirty="0">
                <a:solidFill>
                  <a:srgbClr val="0E133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Validation loss settles around 0.19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6099981" y="1937184"/>
            <a:ext cx="1873672" cy="129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6"/>
              </a:lnSpc>
              <a:buNone/>
            </a:pPr>
            <a:r>
              <a:rPr lang="en-US" sz="647" dirty="0">
                <a:solidFill>
                  <a:srgbClr val="6B729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small upticks suggest mild overfitting late in training</a:t>
            </a:r>
            <a:endParaRPr lang="en-US" sz="647" dirty="0"/>
          </a:p>
        </p:txBody>
      </p:sp>
      <p:sp>
        <p:nvSpPr>
          <p:cNvPr id="24" name="Text 21"/>
          <p:cNvSpPr/>
          <p:nvPr/>
        </p:nvSpPr>
        <p:spPr>
          <a:xfrm>
            <a:off x="5639209" y="2241686"/>
            <a:ext cx="3044019" cy="464344"/>
          </a:xfrm>
          <a:prstGeom prst="roundRect">
            <a:avLst>
              <a:gd name="adj" fmla="val 24615"/>
            </a:avLst>
          </a:prstGeom>
          <a:solidFill>
            <a:srgbClr val="FFFFFF"/>
          </a:solidFill>
          <a:ln w="7144">
            <a:solidFill>
              <a:srgbClr val="E08A0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5742794" y="2338127"/>
            <a:ext cx="271463" cy="271463"/>
          </a:xfrm>
          <a:prstGeom prst="roundRect">
            <a:avLst>
              <a:gd name="adj" fmla="val 35088"/>
            </a:avLst>
          </a:prstGeom>
          <a:solidFill>
            <a:srgbClr val="FCEFD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5774941" y="2370274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E08A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⚠</a:t>
            </a:r>
            <a:endParaRPr lang="en-US" sz="1406" dirty="0"/>
          </a:p>
        </p:txBody>
      </p:sp>
      <p:sp>
        <p:nvSpPr>
          <p:cNvPr id="27" name="Text 24"/>
          <p:cNvSpPr/>
          <p:nvPr/>
        </p:nvSpPr>
        <p:spPr>
          <a:xfrm>
            <a:off x="6099981" y="2338127"/>
            <a:ext cx="2200002" cy="1145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49"/>
              </a:lnSpc>
              <a:buNone/>
            </a:pPr>
            <a:r>
              <a:rPr lang="en-US" sz="800" b="1" dirty="0">
                <a:solidFill>
                  <a:srgbClr val="0E133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Train accuracy hits 1.0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6099981" y="2480109"/>
            <a:ext cx="2095240" cy="129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6"/>
              </a:lnSpc>
              <a:buNone/>
            </a:pPr>
            <a:r>
              <a:rPr lang="en-US" sz="647" dirty="0">
                <a:solidFill>
                  <a:srgbClr val="6B729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head overfits after ~epoch 60 — early stopping could help</a:t>
            </a:r>
            <a:endParaRPr lang="en-US" sz="647" dirty="0"/>
          </a:p>
        </p:txBody>
      </p:sp>
      <p:sp>
        <p:nvSpPr>
          <p:cNvPr id="29" name="Shape 26"/>
          <p:cNvSpPr/>
          <p:nvPr/>
        </p:nvSpPr>
        <p:spPr>
          <a:xfrm>
            <a:off x="5635637" y="4434260"/>
            <a:ext cx="3051163" cy="0"/>
          </a:xfrm>
          <a:prstGeom prst="line">
            <a:avLst/>
          </a:prstGeom>
          <a:noFill/>
          <a:ln w="7144">
            <a:solidFill>
              <a:srgbClr val="D7DCEB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635637" y="4523556"/>
            <a:ext cx="3051163" cy="2198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FF6B6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ⓘ</a:t>
            </a:r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6B729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Validation curves are the clinically meaningful signal — train accuracy saturates because the head has ~120M params.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457200" y="4868466"/>
            <a:ext cx="747883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6B729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BRAIN TUMOR CLASSIFICATION · VGG19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7950324" y="4868466"/>
            <a:ext cx="89732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spc="37" kern="0" dirty="0">
                <a:solidFill>
                  <a:srgbClr val="6B729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ACCURACY &amp; LOSS</a:t>
            </a:r>
            <a:endParaRPr lang="en-US" sz="619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5764"/>
            <a:ext cx="42863" cy="42863"/>
          </a:xfrm>
          <a:prstGeom prst="roundRect">
            <a:avLst>
              <a:gd name="adj" fmla="val 66666"/>
            </a:avLst>
          </a:prstGeom>
          <a:solidFill>
            <a:srgbClr val="FF6B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171450"/>
            <a:ext cx="790578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6B729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07 · TRAINING CURVES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367949" y="171450"/>
            <a:ext cx="4539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6B729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09 / 12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422030"/>
            <a:ext cx="969429" cy="196025"/>
          </a:xfrm>
          <a:prstGeom prst="roundRect">
            <a:avLst>
              <a:gd name="adj" fmla="val 4854215"/>
            </a:avLst>
          </a:prstGeom>
          <a:solidFill>
            <a:srgbClr val="E5E8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57200" y="432532"/>
            <a:ext cx="96942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1E2A7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CELL 4 · MATPLOTLIB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512354" y="400050"/>
            <a:ext cx="7174446" cy="25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575" b="1" spc="-16" kern="0" dirty="0">
                <a:solidFill>
                  <a:srgbClr val="0E13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Beyond accuracy — precision, recall, and AUC.</a:t>
            </a:r>
            <a:endParaRPr lang="en-US" sz="1575" dirty="0"/>
          </a:p>
        </p:txBody>
      </p:sp>
      <p:sp>
        <p:nvSpPr>
          <p:cNvPr id="8" name="Text 6"/>
          <p:cNvSpPr/>
          <p:nvPr/>
        </p:nvSpPr>
        <p:spPr>
          <a:xfrm>
            <a:off x="642938" y="740048"/>
            <a:ext cx="1155697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spc="9" kern="0" dirty="0">
                <a:solidFill>
                  <a:srgbClr val="1E2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Precision &amp; Recall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747192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6B6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10" name="Text 8"/>
          <p:cNvSpPr/>
          <p:nvPr/>
        </p:nvSpPr>
        <p:spPr>
          <a:xfrm>
            <a:off x="460772" y="957932"/>
            <a:ext cx="4519092" cy="2317924"/>
          </a:xfrm>
          <a:prstGeom prst="roundRect">
            <a:avLst>
              <a:gd name="adj" fmla="val 4109"/>
            </a:avLst>
          </a:prstGeom>
          <a:solidFill>
            <a:srgbClr val="FFFFFF"/>
          </a:solidFill>
          <a:ln w="7144">
            <a:solidFill>
              <a:srgbClr val="D7DCEB"/>
            </a:solidFill>
            <a:prstDash val="solid"/>
          </a:ln>
          <a:effectLst>
            <a:outerShdw sx="100000" sy="100000" kx="0" ky="0" algn="bl" rotWithShape="0" blurRad="19050" dist="9525" dir="5400000">
              <a:srgbClr val="111744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1" name="Image 0" descr="/tmp/h2p-fit-1785394158287-euzpl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5781" y="1032942"/>
            <a:ext cx="4369073" cy="2167905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457200" y="3322290"/>
            <a:ext cx="4526235" cy="153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6B729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Both metrics climb steeply through epoch ~25 and plateau near 0.95 on validation.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5299952" y="740048"/>
            <a:ext cx="945010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spc="9" kern="0" dirty="0">
                <a:solidFill>
                  <a:srgbClr val="1E2A7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AUC (4-class)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154885" y="747192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1E2A7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⌇</a:t>
            </a:r>
            <a:endParaRPr lang="en-US" sz="1266" dirty="0"/>
          </a:p>
        </p:txBody>
      </p:sp>
      <p:sp>
        <p:nvSpPr>
          <p:cNvPr id="15" name="Text 12"/>
          <p:cNvSpPr/>
          <p:nvPr/>
        </p:nvSpPr>
        <p:spPr>
          <a:xfrm>
            <a:off x="5158457" y="957932"/>
            <a:ext cx="3524659" cy="2578894"/>
          </a:xfrm>
          <a:prstGeom prst="roundRect">
            <a:avLst>
              <a:gd name="adj" fmla="val 3693"/>
            </a:avLst>
          </a:prstGeom>
          <a:solidFill>
            <a:srgbClr val="FFFFFF"/>
          </a:solidFill>
          <a:ln w="7144">
            <a:solidFill>
              <a:srgbClr val="D7DCEB"/>
            </a:solidFill>
            <a:prstDash val="solid"/>
          </a:ln>
          <a:effectLst>
            <a:outerShdw sx="100000" sy="100000" kx="0" ky="0" algn="bl" rotWithShape="0" blurRad="19050" dist="9525" dir="5400000">
              <a:srgbClr val="111744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6" name="Image 1" descr="/tmp/h2p-fit-1785394158251-u1v6h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3467" y="1032942"/>
            <a:ext cx="3374641" cy="2428875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154885" y="3583260"/>
            <a:ext cx="3531803" cy="153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6B729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Val AUC reaches 0.991 — excellent class separability.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460772" y="3914775"/>
            <a:ext cx="2659819" cy="825103"/>
          </a:xfrm>
          <a:prstGeom prst="roundRect">
            <a:avLst>
              <a:gd name="adj" fmla="val 13853"/>
            </a:avLst>
          </a:prstGeom>
          <a:solidFill>
            <a:srgbClr val="FFFFFF"/>
          </a:solidFill>
          <a:ln w="7144">
            <a:solidFill>
              <a:srgbClr val="D7DCEB"/>
            </a:solidFill>
            <a:prstDash val="solid"/>
          </a:ln>
          <a:effectLst>
            <a:outerShdw sx="100000" sy="100000" kx="0" ky="0" algn="bl" rotWithShape="0" blurRad="19050" dist="9525" dir="5400000">
              <a:srgbClr val="111744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5"/>
          <p:cNvSpPr/>
          <p:nvPr/>
        </p:nvSpPr>
        <p:spPr>
          <a:xfrm>
            <a:off x="592931" y="4018359"/>
            <a:ext cx="2395500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2250" b="1" spc="-45" kern="0" dirty="0">
                <a:solidFill>
                  <a:srgbClr val="FF6B6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94.81%</a:t>
            </a:r>
            <a:endParaRPr lang="en-US" sz="2250" dirty="0"/>
          </a:p>
        </p:txBody>
      </p:sp>
      <p:sp>
        <p:nvSpPr>
          <p:cNvPr id="20" name="Text 16"/>
          <p:cNvSpPr/>
          <p:nvPr/>
        </p:nvSpPr>
        <p:spPr>
          <a:xfrm>
            <a:off x="592931" y="4361259"/>
            <a:ext cx="2395500" cy="1154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b="1" spc="54" kern="0" dirty="0">
                <a:solidFill>
                  <a:srgbClr val="3A3F5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VAL PRECISION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592931" y="4504134"/>
            <a:ext cx="2491320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6B729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false-positive resistance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3242035" y="3914775"/>
            <a:ext cx="2659931" cy="825103"/>
          </a:xfrm>
          <a:prstGeom prst="roundRect">
            <a:avLst>
              <a:gd name="adj" fmla="val 13853"/>
            </a:avLst>
          </a:prstGeom>
          <a:solidFill>
            <a:srgbClr val="FFFFFF"/>
          </a:solidFill>
          <a:ln w="7144">
            <a:solidFill>
              <a:srgbClr val="D7DCEB"/>
            </a:solidFill>
            <a:prstDash val="solid"/>
          </a:ln>
          <a:effectLst>
            <a:outerShdw sx="100000" sy="100000" kx="0" ky="0" algn="bl" rotWithShape="0" blurRad="19050" dist="9525" dir="5400000">
              <a:srgbClr val="111744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19"/>
          <p:cNvSpPr/>
          <p:nvPr/>
        </p:nvSpPr>
        <p:spPr>
          <a:xfrm>
            <a:off x="3374194" y="4018359"/>
            <a:ext cx="2395612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2250" b="1" spc="-45" kern="0" dirty="0">
                <a:solidFill>
                  <a:srgbClr val="1E2A7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94.69%</a:t>
            </a:r>
            <a:endParaRPr lang="en-US" sz="2250" dirty="0"/>
          </a:p>
        </p:txBody>
      </p:sp>
      <p:sp>
        <p:nvSpPr>
          <p:cNvPr id="24" name="Text 20"/>
          <p:cNvSpPr/>
          <p:nvPr/>
        </p:nvSpPr>
        <p:spPr>
          <a:xfrm>
            <a:off x="3374194" y="4361259"/>
            <a:ext cx="2395612" cy="1154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b="1" spc="54" kern="0" dirty="0">
                <a:solidFill>
                  <a:srgbClr val="3A3F5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VAL RECALL</a:t>
            </a:r>
            <a:endParaRPr lang="en-US" sz="800" dirty="0"/>
          </a:p>
        </p:txBody>
      </p:sp>
      <p:sp>
        <p:nvSpPr>
          <p:cNvPr id="25" name="Text 21"/>
          <p:cNvSpPr/>
          <p:nvPr/>
        </p:nvSpPr>
        <p:spPr>
          <a:xfrm>
            <a:off x="3374194" y="4504134"/>
            <a:ext cx="2491436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6B729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false-negative resistance</a:t>
            </a:r>
            <a:endParaRPr lang="en-US" sz="800" dirty="0"/>
          </a:p>
        </p:txBody>
      </p:sp>
      <p:sp>
        <p:nvSpPr>
          <p:cNvPr id="26" name="Text 22"/>
          <p:cNvSpPr/>
          <p:nvPr/>
        </p:nvSpPr>
        <p:spPr>
          <a:xfrm>
            <a:off x="6023409" y="3914775"/>
            <a:ext cx="2659819" cy="825103"/>
          </a:xfrm>
          <a:prstGeom prst="roundRect">
            <a:avLst>
              <a:gd name="adj" fmla="val 13853"/>
            </a:avLst>
          </a:prstGeom>
          <a:solidFill>
            <a:srgbClr val="FFFFFF"/>
          </a:solidFill>
          <a:ln w="7144">
            <a:solidFill>
              <a:srgbClr val="D7DCEB"/>
            </a:solidFill>
            <a:prstDash val="solid"/>
          </a:ln>
          <a:effectLst>
            <a:outerShdw sx="100000" sy="100000" kx="0" ky="0" algn="bl" rotWithShape="0" blurRad="19050" dist="9525" dir="5400000">
              <a:srgbClr val="111744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3"/>
          <p:cNvSpPr/>
          <p:nvPr/>
        </p:nvSpPr>
        <p:spPr>
          <a:xfrm>
            <a:off x="6155568" y="4018359"/>
            <a:ext cx="2395500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2250" b="1" spc="-45" kern="0" dirty="0">
                <a:solidFill>
                  <a:srgbClr val="1E2A7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99.11%</a:t>
            </a:r>
            <a:endParaRPr lang="en-US" sz="2250" dirty="0"/>
          </a:p>
        </p:txBody>
      </p:sp>
      <p:sp>
        <p:nvSpPr>
          <p:cNvPr id="28" name="Text 24"/>
          <p:cNvSpPr/>
          <p:nvPr/>
        </p:nvSpPr>
        <p:spPr>
          <a:xfrm>
            <a:off x="6155568" y="4361259"/>
            <a:ext cx="2395500" cy="1154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b="1" spc="54" kern="0" dirty="0">
                <a:solidFill>
                  <a:srgbClr val="3A3F5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VAL AUC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6155568" y="4504134"/>
            <a:ext cx="2395500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6B729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macro-averaged, 4-class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457200" y="4912779"/>
            <a:ext cx="42863" cy="42863"/>
          </a:xfrm>
          <a:prstGeom prst="roundRect">
            <a:avLst>
              <a:gd name="adj" fmla="val 66666"/>
            </a:avLst>
          </a:prstGeom>
          <a:solidFill>
            <a:srgbClr val="FF6B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7"/>
          <p:cNvSpPr/>
          <p:nvPr/>
        </p:nvSpPr>
        <p:spPr>
          <a:xfrm>
            <a:off x="457200" y="4868466"/>
            <a:ext cx="718527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6B729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BRAIN TUMOR CLASSIFICATION · VGG19</a:t>
            </a:r>
            <a:endParaRPr lang="en-US" sz="800" dirty="0"/>
          </a:p>
        </p:txBody>
      </p:sp>
      <p:sp>
        <p:nvSpPr>
          <p:cNvPr id="32" name="Text 28"/>
          <p:cNvSpPr/>
          <p:nvPr/>
        </p:nvSpPr>
        <p:spPr>
          <a:xfrm>
            <a:off x="7656761" y="4868466"/>
            <a:ext cx="118084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spc="37" kern="0" dirty="0">
                <a:solidFill>
                  <a:srgbClr val="6B729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PRECISION · RECALL · AUC</a:t>
            </a:r>
            <a:endParaRPr lang="en-US" sz="619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5764"/>
            <a:ext cx="42863" cy="42863"/>
          </a:xfrm>
          <a:prstGeom prst="roundRect">
            <a:avLst>
              <a:gd name="adj" fmla="val 66666"/>
            </a:avLst>
          </a:prstGeom>
          <a:solidFill>
            <a:srgbClr val="FF6B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171450"/>
            <a:ext cx="790578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6B729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08 · EVALUATION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367949" y="171450"/>
            <a:ext cx="4539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6B729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 / 12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400050"/>
            <a:ext cx="4114800" cy="175022"/>
          </a:xfrm>
          <a:prstGeom prst="roundRect">
            <a:avLst>
              <a:gd name="adj" fmla="val 5436731"/>
            </a:avLst>
          </a:prstGeom>
          <a:solidFill>
            <a:srgbClr val="E5E8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57200" y="400050"/>
            <a:ext cx="411480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1E2A7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CELL 6 · SKLEARN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632222"/>
            <a:ext cx="4526280" cy="25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575" b="1" spc="-16" kern="0" dirty="0">
                <a:solidFill>
                  <a:srgbClr val="0E133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Confusion matrix on 911 test scans.</a:t>
            </a:r>
            <a:endParaRPr lang="en-US" sz="1575" dirty="0"/>
          </a:p>
        </p:txBody>
      </p:sp>
      <p:sp>
        <p:nvSpPr>
          <p:cNvPr id="8" name="Text 6"/>
          <p:cNvSpPr/>
          <p:nvPr/>
        </p:nvSpPr>
        <p:spPr>
          <a:xfrm>
            <a:off x="460772" y="961504"/>
            <a:ext cx="4107656" cy="3107531"/>
          </a:xfrm>
          <a:prstGeom prst="roundRect">
            <a:avLst>
              <a:gd name="adj" fmla="val 3065"/>
            </a:avLst>
          </a:prstGeom>
          <a:solidFill>
            <a:srgbClr val="FFFFFF"/>
          </a:solidFill>
          <a:ln w="7144">
            <a:solidFill>
              <a:srgbClr val="D7DCEB"/>
            </a:solidFill>
            <a:prstDash val="solid"/>
          </a:ln>
          <a:effectLst>
            <a:outerShdw sx="100000" sy="100000" kx="0" ky="0" algn="bl" rotWithShape="0" blurRad="19050" dist="9525" dir="5400000">
              <a:srgbClr val="111744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9" name="Image 0" descr="/tmp/h2p-fit-1785394158258-amsth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0069" y="1050801"/>
            <a:ext cx="3929063" cy="292893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57200" y="4129757"/>
            <a:ext cx="4443984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6B729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Rows = true class · Columns = predicted class.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4743450" y="400050"/>
            <a:ext cx="3943350" cy="175022"/>
          </a:xfrm>
          <a:prstGeom prst="roundRect">
            <a:avLst>
              <a:gd name="adj" fmla="val 5436731"/>
            </a:avLst>
          </a:prstGeom>
          <a:solidFill>
            <a:srgbClr val="E5E8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4743450" y="400050"/>
            <a:ext cx="394335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1E2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PER-CLASS ANALYSIS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4743450" y="632222"/>
            <a:ext cx="4337685" cy="25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575" b="1" spc="-16" kern="0" dirty="0">
                <a:solidFill>
                  <a:srgbClr val="0E13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Where the model succeeds — and slips.</a:t>
            </a:r>
            <a:endParaRPr lang="en-US" sz="1575" dirty="0"/>
          </a:p>
        </p:txBody>
      </p:sp>
      <p:sp>
        <p:nvSpPr>
          <p:cNvPr id="14" name="Text 11"/>
          <p:cNvSpPr/>
          <p:nvPr/>
        </p:nvSpPr>
        <p:spPr>
          <a:xfrm>
            <a:off x="4747022" y="961504"/>
            <a:ext cx="1921669" cy="567147"/>
          </a:xfrm>
          <a:prstGeom prst="roundRect">
            <a:avLst>
              <a:gd name="adj" fmla="val 16795"/>
            </a:avLst>
          </a:prstGeom>
          <a:solidFill>
            <a:srgbClr val="FFFFFF"/>
          </a:solidFill>
          <a:ln w="7144">
            <a:solidFill>
              <a:srgbClr val="D7DCEB"/>
            </a:solidFill>
            <a:prstDash val="solid"/>
          </a:ln>
          <a:effectLst>
            <a:outerShdw sx="100000" sy="100000" kx="0" ky="0" algn="bl" rotWithShape="0" blurRad="19050" dist="9525" dir="5400000">
              <a:srgbClr val="111744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4750594" y="965076"/>
            <a:ext cx="35719" cy="560003"/>
          </a:xfrm>
          <a:prstGeom prst="roundRect">
            <a:avLst>
              <a:gd name="adj" fmla="val 266665"/>
            </a:avLst>
          </a:prstGeom>
          <a:solidFill>
            <a:srgbClr val="6C5C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4879181" y="1050801"/>
            <a:ext cx="1685925" cy="1211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b="1" dirty="0">
                <a:solidFill>
                  <a:srgbClr val="0E13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Glioma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4879181" y="1199369"/>
            <a:ext cx="1685925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3A3F5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Cleanest class; near-zero confusion with others.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6761559" y="961504"/>
            <a:ext cx="1921669" cy="567147"/>
          </a:xfrm>
          <a:prstGeom prst="roundRect">
            <a:avLst>
              <a:gd name="adj" fmla="val 16795"/>
            </a:avLst>
          </a:prstGeom>
          <a:solidFill>
            <a:srgbClr val="FFFFFF"/>
          </a:solidFill>
          <a:ln w="7144">
            <a:solidFill>
              <a:srgbClr val="D7DCEB"/>
            </a:solidFill>
            <a:prstDash val="solid"/>
          </a:ln>
          <a:effectLst>
            <a:outerShdw sx="100000" sy="100000" kx="0" ky="0" algn="bl" rotWithShape="0" blurRad="19050" dist="9525" dir="5400000">
              <a:srgbClr val="111744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6765131" y="965076"/>
            <a:ext cx="35719" cy="560003"/>
          </a:xfrm>
          <a:prstGeom prst="roundRect">
            <a:avLst>
              <a:gd name="adj" fmla="val 266665"/>
            </a:avLst>
          </a:prstGeom>
          <a:solidFill>
            <a:srgbClr val="FF6B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6893719" y="1050801"/>
            <a:ext cx="1685925" cy="1211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b="1" dirty="0">
                <a:solidFill>
                  <a:srgbClr val="0E13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Meningioma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6893719" y="1199369"/>
            <a:ext cx="1685925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3A3F5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Most often confused with glioma (similar mass appearance).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4747022" y="1621520"/>
            <a:ext cx="1921669" cy="567147"/>
          </a:xfrm>
          <a:prstGeom prst="roundRect">
            <a:avLst>
              <a:gd name="adj" fmla="val 16795"/>
            </a:avLst>
          </a:prstGeom>
          <a:solidFill>
            <a:srgbClr val="FFFFFF"/>
          </a:solidFill>
          <a:ln w="7144">
            <a:solidFill>
              <a:srgbClr val="D7DCEB"/>
            </a:solidFill>
            <a:prstDash val="solid"/>
          </a:ln>
          <a:effectLst>
            <a:outerShdw sx="100000" sy="100000" kx="0" ky="0" algn="bl" rotWithShape="0" blurRad="19050" dist="9525" dir="5400000">
              <a:srgbClr val="111744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4750594" y="1625092"/>
            <a:ext cx="35719" cy="560003"/>
          </a:xfrm>
          <a:prstGeom prst="roundRect">
            <a:avLst>
              <a:gd name="adj" fmla="val 266665"/>
            </a:avLst>
          </a:prstGeom>
          <a:solidFill>
            <a:srgbClr val="1F9D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4879181" y="1710817"/>
            <a:ext cx="1685925" cy="1211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b="1" dirty="0">
                <a:solidFill>
                  <a:srgbClr val="0E13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No-tumor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4879181" y="1859384"/>
            <a:ext cx="1685925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3A3F5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High recall — few false negatives for healthy scans.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6761559" y="1621520"/>
            <a:ext cx="1921669" cy="567147"/>
          </a:xfrm>
          <a:prstGeom prst="roundRect">
            <a:avLst>
              <a:gd name="adj" fmla="val 16795"/>
            </a:avLst>
          </a:prstGeom>
          <a:solidFill>
            <a:srgbClr val="FFFFFF"/>
          </a:solidFill>
          <a:ln w="7144">
            <a:solidFill>
              <a:srgbClr val="D7DCEB"/>
            </a:solidFill>
            <a:prstDash val="solid"/>
          </a:ln>
          <a:effectLst>
            <a:outerShdw sx="100000" sy="100000" kx="0" ky="0" algn="bl" rotWithShape="0" blurRad="19050" dist="9525" dir="5400000">
              <a:srgbClr val="111744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6765131" y="1625092"/>
            <a:ext cx="35719" cy="560003"/>
          </a:xfrm>
          <a:prstGeom prst="roundRect">
            <a:avLst>
              <a:gd name="adj" fmla="val 266665"/>
            </a:avLst>
          </a:prstGeom>
          <a:solidFill>
            <a:srgbClr val="E08A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6893719" y="1710817"/>
            <a:ext cx="1685925" cy="1211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b="1" dirty="0">
                <a:solidFill>
                  <a:srgbClr val="0E13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Pituitary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6893719" y="1859384"/>
            <a:ext cx="1685925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3A3F5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Small tumor region but well-detected thanks to T1 contrast.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4743450" y="2277963"/>
            <a:ext cx="3943350" cy="610791"/>
          </a:xfrm>
          <a:prstGeom prst="roundRect">
            <a:avLst>
              <a:gd name="adj" fmla="val 18713"/>
            </a:avLst>
          </a:prstGeom>
          <a:solidFill>
            <a:srgbClr val="EEF1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4857750" y="2377976"/>
            <a:ext cx="228600" cy="228600"/>
          </a:xfrm>
          <a:prstGeom prst="roundRect">
            <a:avLst>
              <a:gd name="adj" fmla="val 33333"/>
            </a:avLst>
          </a:prstGeom>
          <a:solidFill>
            <a:srgbClr val="FF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9"/>
          <p:cNvSpPr/>
          <p:nvPr/>
        </p:nvSpPr>
        <p:spPr>
          <a:xfrm>
            <a:off x="4878824" y="2399050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B23A3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1266" dirty="0"/>
          </a:p>
        </p:txBody>
      </p:sp>
      <p:sp>
        <p:nvSpPr>
          <p:cNvPr id="33" name="Text 30"/>
          <p:cNvSpPr/>
          <p:nvPr/>
        </p:nvSpPr>
        <p:spPr>
          <a:xfrm>
            <a:off x="5172075" y="2377976"/>
            <a:ext cx="3400425" cy="1047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50" kern="0" dirty="0">
                <a:solidFill>
                  <a:srgbClr val="6B729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KEY TAKEAWAY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5172075" y="2510135"/>
            <a:ext cx="3400425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0E13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Off-diagonal mass concentrates on Glioma↔Meningioma — a known radiological overlap. Per-class targeted augmentation could close this gap.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457200" y="4912779"/>
            <a:ext cx="42863" cy="42863"/>
          </a:xfrm>
          <a:prstGeom prst="roundRect">
            <a:avLst>
              <a:gd name="adj" fmla="val 66666"/>
            </a:avLst>
          </a:prstGeom>
          <a:solidFill>
            <a:srgbClr val="FF6B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3"/>
          <p:cNvSpPr/>
          <p:nvPr/>
        </p:nvSpPr>
        <p:spPr>
          <a:xfrm>
            <a:off x="457200" y="4868466"/>
            <a:ext cx="744434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6B729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BRAIN TUMOR CLASSIFICATION · VGG19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7915833" y="4868466"/>
            <a:ext cx="93935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spc="37" kern="0" dirty="0">
                <a:solidFill>
                  <a:srgbClr val="6B729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CONFUSION MATRIX</a:t>
            </a:r>
            <a:endParaRPr lang="en-US" sz="619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5764"/>
            <a:ext cx="42863" cy="42863"/>
          </a:xfrm>
          <a:prstGeom prst="roundRect">
            <a:avLst>
              <a:gd name="adj" fmla="val 66666"/>
            </a:avLst>
          </a:prstGeom>
          <a:solidFill>
            <a:srgbClr val="FF6B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171450"/>
            <a:ext cx="790578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6B729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08 · EVALUATION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367949" y="171450"/>
            <a:ext cx="4539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6B729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11 / 12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422030"/>
            <a:ext cx="969429" cy="196025"/>
          </a:xfrm>
          <a:prstGeom prst="roundRect">
            <a:avLst>
              <a:gd name="adj" fmla="val 4854215"/>
            </a:avLst>
          </a:prstGeom>
          <a:solidFill>
            <a:srgbClr val="E5E8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57200" y="432532"/>
            <a:ext cx="96942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1E2A7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CELL 7 · MATPLOTLIB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512354" y="400050"/>
            <a:ext cx="7174446" cy="25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575" b="1" spc="-16" kern="0" dirty="0">
                <a:solidFill>
                  <a:srgbClr val="0E13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Sample predictions — first 25 test scans (5 per class).</a:t>
            </a:r>
            <a:endParaRPr lang="en-US" sz="1575" dirty="0"/>
          </a:p>
        </p:txBody>
      </p:sp>
      <p:sp>
        <p:nvSpPr>
          <p:cNvPr id="8" name="Text 6"/>
          <p:cNvSpPr/>
          <p:nvPr/>
        </p:nvSpPr>
        <p:spPr>
          <a:xfrm>
            <a:off x="460772" y="729332"/>
            <a:ext cx="8222456" cy="3250406"/>
          </a:xfrm>
          <a:prstGeom prst="roundRect">
            <a:avLst>
              <a:gd name="adj" fmla="val 3516"/>
            </a:avLst>
          </a:prstGeom>
          <a:solidFill>
            <a:srgbClr val="FFFFFF"/>
          </a:solidFill>
          <a:ln w="7144">
            <a:solidFill>
              <a:srgbClr val="D7DCEB"/>
            </a:solidFill>
            <a:prstDash val="solid"/>
          </a:ln>
          <a:effectLst>
            <a:outerShdw sx="100000" sy="100000" kx="0" ky="0" algn="bl" rotWithShape="0" blurRad="19050" dist="9525" dir="5400000">
              <a:srgbClr val="111744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9" name="Image 0" descr="/tmp/h2p-fit-1785394159086-6watd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0069" y="818629"/>
            <a:ext cx="8043863" cy="3071813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60772" y="4072607"/>
            <a:ext cx="8222456" cy="346472"/>
          </a:xfrm>
          <a:prstGeom prst="roundRect">
            <a:avLst>
              <a:gd name="adj" fmla="val 27491"/>
            </a:avLst>
          </a:prstGeom>
          <a:solidFill>
            <a:srgbClr val="FFFFFF"/>
          </a:solidFill>
          <a:ln w="7144">
            <a:solidFill>
              <a:srgbClr val="D7DCEB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8"/>
          <p:cNvSpPr/>
          <p:nvPr/>
        </p:nvSpPr>
        <p:spPr>
          <a:xfrm>
            <a:off x="2512814" y="4147617"/>
            <a:ext cx="0" cy="196453"/>
          </a:xfrm>
          <a:prstGeom prst="line">
            <a:avLst/>
          </a:prstGeom>
          <a:noFill/>
          <a:ln w="7144">
            <a:solidFill>
              <a:srgbClr val="D7DCE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21506" y="4210124"/>
            <a:ext cx="71438" cy="71438"/>
          </a:xfrm>
          <a:prstGeom prst="ellipse">
            <a:avLst/>
          </a:prstGeom>
          <a:solidFill>
            <a:srgbClr val="6C5CEB"/>
          </a:solidFill>
          <a:ln/>
          <a:effectLst>
            <a:outerShdw sx="100000" sy="100000" kx="0" ky="0" algn="bl" rotWithShape="0" blurRad="101600" dist="50800" dir="16200000">
              <a:srgbClr val="FFFFFF">
                <a:alpha val="6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740892" y="4176192"/>
            <a:ext cx="421599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0E13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Glioma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1117774" y="4186907"/>
            <a:ext cx="1334319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6B729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glial tumor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4536281" y="4147617"/>
            <a:ext cx="0" cy="196453"/>
          </a:xfrm>
          <a:prstGeom prst="line">
            <a:avLst/>
          </a:prstGeom>
          <a:noFill/>
          <a:ln w="7144">
            <a:solidFill>
              <a:srgbClr val="D7DCE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644973" y="4210124"/>
            <a:ext cx="71438" cy="71438"/>
          </a:xfrm>
          <a:prstGeom prst="ellipse">
            <a:avLst/>
          </a:prstGeom>
          <a:solidFill>
            <a:srgbClr val="FF6B6B"/>
          </a:solidFill>
          <a:ln/>
          <a:effectLst>
            <a:outerShdw sx="100000" sy="100000" kx="0" ky="0" algn="bl" rotWithShape="0" blurRad="101600" dist="50800" dir="16200000">
              <a:srgbClr val="FFFFFF">
                <a:alpha val="6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2746431" y="4176192"/>
            <a:ext cx="67096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0E13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Meningioma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3352651" y="4186907"/>
            <a:ext cx="1122908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6B729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meninges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6559748" y="4147617"/>
            <a:ext cx="0" cy="196453"/>
          </a:xfrm>
          <a:prstGeom prst="line">
            <a:avLst/>
          </a:prstGeom>
          <a:noFill/>
          <a:ln w="7144">
            <a:solidFill>
              <a:srgbClr val="D7DCE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668441" y="4210124"/>
            <a:ext cx="71438" cy="71438"/>
          </a:xfrm>
          <a:prstGeom prst="ellipse">
            <a:avLst/>
          </a:prstGeom>
          <a:solidFill>
            <a:srgbClr val="1F9D6B"/>
          </a:solidFill>
          <a:ln/>
          <a:effectLst>
            <a:outerShdw sx="100000" sy="100000" kx="0" ky="0" algn="bl" rotWithShape="0" blurRad="101600" dist="50800" dir="16200000">
              <a:srgbClr val="FFFFFF">
                <a:alpha val="6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4796002" y="4176192"/>
            <a:ext cx="53789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0E13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No-tumor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5257465" y="4186907"/>
            <a:ext cx="1241561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6B729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healthy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6691908" y="4210124"/>
            <a:ext cx="71438" cy="71438"/>
          </a:xfrm>
          <a:prstGeom prst="ellipse">
            <a:avLst/>
          </a:prstGeom>
          <a:solidFill>
            <a:srgbClr val="E08A00"/>
          </a:solidFill>
          <a:ln/>
          <a:effectLst>
            <a:outerShdw sx="100000" sy="100000" kx="0" ky="0" algn="bl" rotWithShape="0" blurRad="101600" dist="50800" dir="16200000">
              <a:srgbClr val="FFFFFF">
                <a:alpha val="6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6774420" y="4176192"/>
            <a:ext cx="55632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b="1" dirty="0">
                <a:solidFill>
                  <a:srgbClr val="0E13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Pituitary</a:t>
            </a:r>
            <a:endParaRPr lang="en-US" sz="731" dirty="0"/>
          </a:p>
        </p:txBody>
      </p:sp>
      <p:sp>
        <p:nvSpPr>
          <p:cNvPr id="25" name="Text 22"/>
          <p:cNvSpPr/>
          <p:nvPr/>
        </p:nvSpPr>
        <p:spPr>
          <a:xfrm>
            <a:off x="7230814" y="4186907"/>
            <a:ext cx="1291679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6B729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gland tumor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457200" y="4479801"/>
            <a:ext cx="8229600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6B729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Each tile shows True (top) vs Predicted (bottom). Mismatches are visually obvious — most tiles match.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457200" y="4912779"/>
            <a:ext cx="42863" cy="42863"/>
          </a:xfrm>
          <a:prstGeom prst="roundRect">
            <a:avLst>
              <a:gd name="adj" fmla="val 66666"/>
            </a:avLst>
          </a:prstGeom>
          <a:solidFill>
            <a:srgbClr val="FF6B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457200" y="4868466"/>
            <a:ext cx="735315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6B729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BRAIN TUMOR CLASSIFICATION · VGG19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7824639" y="4868466"/>
            <a:ext cx="105046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spc="37" kern="0" dirty="0">
                <a:solidFill>
                  <a:srgbClr val="6B729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SAMPLE PREDICTIONS</a:t>
            </a:r>
            <a:endParaRPr lang="en-US" sz="619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5764"/>
            <a:ext cx="42863" cy="42863"/>
          </a:xfrm>
          <a:prstGeom prst="roundRect">
            <a:avLst>
              <a:gd name="adj" fmla="val 66666"/>
            </a:avLst>
          </a:prstGeom>
          <a:solidFill>
            <a:srgbClr val="FF6B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171450"/>
            <a:ext cx="790578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6B729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09 · CONCLUSION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367949" y="171450"/>
            <a:ext cx="4539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6B729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12 / 12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466344"/>
            <a:ext cx="747861" cy="196025"/>
          </a:xfrm>
          <a:prstGeom prst="roundRect">
            <a:avLst>
              <a:gd name="adj" fmla="val 4854215"/>
            </a:avLst>
          </a:prstGeom>
          <a:solidFill>
            <a:srgbClr val="E5E8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50583" y="476845"/>
            <a:ext cx="96109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1E2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FINAL RESULTS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290786" y="400050"/>
            <a:ext cx="7396014" cy="354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88"/>
              </a:lnSpc>
              <a:buNone/>
            </a:pPr>
            <a:r>
              <a:rPr lang="en-US" sz="2250" b="1" spc="-34" kern="0" dirty="0">
                <a:solidFill>
                  <a:srgbClr val="0E13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clinically-promising VGG19 baseline.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460772" y="846534"/>
            <a:ext cx="1985963" cy="917972"/>
          </a:xfrm>
          <a:prstGeom prst="roundRect">
            <a:avLst>
              <a:gd name="adj" fmla="val 14527"/>
            </a:avLst>
          </a:prstGeom>
          <a:solidFill>
            <a:srgbClr val="FFFFFF"/>
          </a:solidFill>
          <a:ln w="7144">
            <a:solidFill>
              <a:srgbClr val="D7DCEB"/>
            </a:solidFill>
            <a:prstDash val="solid"/>
          </a:ln>
          <a:effectLst>
            <a:outerShdw sx="100000" sy="100000" kx="0" ky="0" algn="bl" rotWithShape="0" blurRad="19050" dist="9525" dir="5400000">
              <a:srgbClr val="111744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222677" y="935831"/>
            <a:ext cx="13816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b="1" spc="45" kern="0" dirty="0">
                <a:solidFill>
                  <a:srgbClr val="6B729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600" dirty="0"/>
          </a:p>
        </p:txBody>
      </p:sp>
      <p:sp>
        <p:nvSpPr>
          <p:cNvPr id="10" name="Text 8"/>
          <p:cNvSpPr/>
          <p:nvPr/>
        </p:nvSpPr>
        <p:spPr>
          <a:xfrm>
            <a:off x="592931" y="964406"/>
            <a:ext cx="1721644" cy="354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88"/>
              </a:lnSpc>
              <a:buNone/>
            </a:pPr>
            <a:r>
              <a:rPr lang="en-US" sz="2588" b="1" spc="-65" kern="0" dirty="0">
                <a:solidFill>
                  <a:srgbClr val="FF6B6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94.75%</a:t>
            </a:r>
            <a:endParaRPr lang="en-US" sz="2588" dirty="0"/>
          </a:p>
        </p:txBody>
      </p:sp>
      <p:sp>
        <p:nvSpPr>
          <p:cNvPr id="11" name="Text 9"/>
          <p:cNvSpPr/>
          <p:nvPr/>
        </p:nvSpPr>
        <p:spPr>
          <a:xfrm>
            <a:off x="592931" y="1364456"/>
            <a:ext cx="1721644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b="1" spc="54" kern="0" dirty="0">
                <a:solidFill>
                  <a:srgbClr val="3A3F5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VALIDATION ACCURACY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92931" y="1514475"/>
            <a:ext cx="1721644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6B729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epoch 100 · 4-class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539603" y="846534"/>
            <a:ext cx="1985963" cy="917972"/>
          </a:xfrm>
          <a:prstGeom prst="roundRect">
            <a:avLst>
              <a:gd name="adj" fmla="val 14527"/>
            </a:avLst>
          </a:prstGeom>
          <a:solidFill>
            <a:srgbClr val="FFFFFF"/>
          </a:solidFill>
          <a:ln w="7144">
            <a:solidFill>
              <a:srgbClr val="D7DCEB"/>
            </a:solidFill>
            <a:prstDash val="solid"/>
          </a:ln>
          <a:effectLst>
            <a:outerShdw sx="100000" sy="100000" kx="0" ky="0" algn="bl" rotWithShape="0" blurRad="19050" dist="9525" dir="5400000">
              <a:srgbClr val="111744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301508" y="935831"/>
            <a:ext cx="13816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b="1" spc="45" kern="0" dirty="0">
                <a:solidFill>
                  <a:srgbClr val="6B729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600" dirty="0"/>
          </a:p>
        </p:txBody>
      </p:sp>
      <p:sp>
        <p:nvSpPr>
          <p:cNvPr id="15" name="Text 13"/>
          <p:cNvSpPr/>
          <p:nvPr/>
        </p:nvSpPr>
        <p:spPr>
          <a:xfrm>
            <a:off x="2671763" y="964406"/>
            <a:ext cx="1721644" cy="354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88"/>
              </a:lnSpc>
              <a:buNone/>
            </a:pPr>
            <a:r>
              <a:rPr lang="en-US" sz="2588" b="1" spc="-65" kern="0" dirty="0">
                <a:solidFill>
                  <a:srgbClr val="1E2A7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99.11%</a:t>
            </a:r>
            <a:endParaRPr lang="en-US" sz="2588" dirty="0"/>
          </a:p>
        </p:txBody>
      </p:sp>
      <p:sp>
        <p:nvSpPr>
          <p:cNvPr id="16" name="Text 14"/>
          <p:cNvSpPr/>
          <p:nvPr/>
        </p:nvSpPr>
        <p:spPr>
          <a:xfrm>
            <a:off x="2671763" y="1364456"/>
            <a:ext cx="1721644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b="1" spc="54" kern="0" dirty="0">
                <a:solidFill>
                  <a:srgbClr val="3A3F5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VALIDATION AUC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671763" y="1514475"/>
            <a:ext cx="1721644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6B729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macro-averaged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618434" y="846534"/>
            <a:ext cx="1985963" cy="917972"/>
          </a:xfrm>
          <a:prstGeom prst="roundRect">
            <a:avLst>
              <a:gd name="adj" fmla="val 14527"/>
            </a:avLst>
          </a:prstGeom>
          <a:solidFill>
            <a:srgbClr val="FFFFFF"/>
          </a:solidFill>
          <a:ln w="7144">
            <a:solidFill>
              <a:srgbClr val="D7DCEB"/>
            </a:solidFill>
            <a:prstDash val="solid"/>
          </a:ln>
          <a:effectLst>
            <a:outerShdw sx="100000" sy="100000" kx="0" ky="0" algn="bl" rotWithShape="0" blurRad="19050" dist="9525" dir="5400000">
              <a:srgbClr val="111744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380339" y="935831"/>
            <a:ext cx="13816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b="1" spc="45" kern="0" dirty="0">
                <a:solidFill>
                  <a:srgbClr val="6B729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600" dirty="0"/>
          </a:p>
        </p:txBody>
      </p:sp>
      <p:sp>
        <p:nvSpPr>
          <p:cNvPr id="20" name="Text 18"/>
          <p:cNvSpPr/>
          <p:nvPr/>
        </p:nvSpPr>
        <p:spPr>
          <a:xfrm>
            <a:off x="4750594" y="964406"/>
            <a:ext cx="1721644" cy="354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88"/>
              </a:lnSpc>
              <a:buNone/>
            </a:pPr>
            <a:r>
              <a:rPr lang="en-US" sz="2588" b="1" spc="-65" kern="0" dirty="0">
                <a:solidFill>
                  <a:srgbClr val="0E133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94.81%</a:t>
            </a:r>
            <a:endParaRPr lang="en-US" sz="2588" dirty="0"/>
          </a:p>
        </p:txBody>
      </p:sp>
      <p:sp>
        <p:nvSpPr>
          <p:cNvPr id="21" name="Text 19"/>
          <p:cNvSpPr/>
          <p:nvPr/>
        </p:nvSpPr>
        <p:spPr>
          <a:xfrm>
            <a:off x="4750594" y="1364456"/>
            <a:ext cx="1721644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b="1" spc="54" kern="0" dirty="0">
                <a:solidFill>
                  <a:srgbClr val="3A3F5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VALIDATION PRECISION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750594" y="1514475"/>
            <a:ext cx="1824942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6B729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false-positive resistance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697266" y="846534"/>
            <a:ext cx="1985963" cy="917972"/>
          </a:xfrm>
          <a:prstGeom prst="roundRect">
            <a:avLst>
              <a:gd name="adj" fmla="val 14527"/>
            </a:avLst>
          </a:prstGeom>
          <a:solidFill>
            <a:srgbClr val="FFFFFF"/>
          </a:solidFill>
          <a:ln w="7144">
            <a:solidFill>
              <a:srgbClr val="D7DCEB"/>
            </a:solidFill>
            <a:prstDash val="solid"/>
          </a:ln>
          <a:effectLst>
            <a:outerShdw sx="100000" sy="100000" kx="0" ky="0" algn="bl" rotWithShape="0" blurRad="19050" dist="9525" dir="5400000">
              <a:srgbClr val="111744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8459170" y="935831"/>
            <a:ext cx="13816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b="1" spc="45" kern="0" dirty="0">
                <a:solidFill>
                  <a:srgbClr val="6B729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600" dirty="0"/>
          </a:p>
        </p:txBody>
      </p:sp>
      <p:sp>
        <p:nvSpPr>
          <p:cNvPr id="25" name="Text 23"/>
          <p:cNvSpPr/>
          <p:nvPr/>
        </p:nvSpPr>
        <p:spPr>
          <a:xfrm>
            <a:off x="6829425" y="964406"/>
            <a:ext cx="1721644" cy="354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88"/>
              </a:lnSpc>
              <a:buNone/>
            </a:pPr>
            <a:r>
              <a:rPr lang="en-US" sz="2588" b="1" spc="-65" kern="0" dirty="0">
                <a:solidFill>
                  <a:srgbClr val="0E133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94.69%</a:t>
            </a:r>
            <a:endParaRPr lang="en-US" sz="2588" dirty="0"/>
          </a:p>
        </p:txBody>
      </p:sp>
      <p:sp>
        <p:nvSpPr>
          <p:cNvPr id="26" name="Text 24"/>
          <p:cNvSpPr/>
          <p:nvPr/>
        </p:nvSpPr>
        <p:spPr>
          <a:xfrm>
            <a:off x="6829425" y="1364456"/>
            <a:ext cx="1721644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b="1" spc="54" kern="0" dirty="0">
                <a:solidFill>
                  <a:srgbClr val="3A3F5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VALIDATION RECALL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829425" y="1514475"/>
            <a:ext cx="1824942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6B729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false-negative resistance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60772" y="1885950"/>
            <a:ext cx="4064794" cy="1323156"/>
          </a:xfrm>
          <a:prstGeom prst="roundRect">
            <a:avLst>
              <a:gd name="adj" fmla="val 10078"/>
            </a:avLst>
          </a:prstGeom>
          <a:solidFill>
            <a:srgbClr val="FFFFFF"/>
          </a:solidFill>
          <a:ln w="7144">
            <a:solidFill>
              <a:srgbClr val="D7DCEB"/>
            </a:solidFill>
            <a:prstDash val="solid"/>
          </a:ln>
          <a:effectLst>
            <a:outerShdw sx="100000" sy="100000" kx="0" ky="0" algn="bl" rotWithShape="0" blurRad="19050" dist="9525" dir="5400000">
              <a:srgbClr val="111744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92931" y="201665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1E2A7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30" name="Text 28"/>
          <p:cNvSpPr/>
          <p:nvPr/>
        </p:nvSpPr>
        <p:spPr>
          <a:xfrm>
            <a:off x="778669" y="2003822"/>
            <a:ext cx="3614738" cy="166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1013" b="1" spc="-5" kern="0" dirty="0">
                <a:solidFill>
                  <a:srgbClr val="1E2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worked</a:t>
            </a:r>
            <a:endParaRPr lang="en-US" sz="1013" dirty="0"/>
          </a:p>
        </p:txBody>
      </p:sp>
      <p:sp>
        <p:nvSpPr>
          <p:cNvPr id="31" name="Text 29"/>
          <p:cNvSpPr/>
          <p:nvPr/>
        </p:nvSpPr>
        <p:spPr>
          <a:xfrm>
            <a:off x="592931" y="2315245"/>
            <a:ext cx="35719" cy="35719"/>
          </a:xfrm>
          <a:prstGeom prst="ellipse">
            <a:avLst/>
          </a:prstGeom>
          <a:solidFill>
            <a:srgbClr val="1E2A7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685800" y="2258095"/>
            <a:ext cx="3707606" cy="318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800" dirty="0">
                <a:solidFill>
                  <a:srgbClr val="3A3F5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Transfer learning on VGG19 reaches &gt;94% accuracy on a 4-class MRI task with only ~7k images.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92931" y="2631356"/>
            <a:ext cx="35719" cy="35719"/>
          </a:xfrm>
          <a:prstGeom prst="ellipse">
            <a:avLst/>
          </a:prstGeom>
          <a:solidFill>
            <a:srgbClr val="1E2A7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685800" y="2574206"/>
            <a:ext cx="3707606" cy="318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800" dirty="0">
                <a:solidFill>
                  <a:srgbClr val="3A3F5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Multi-metric tracking (acc/precision/recall/AUC) gave an honest picture instead of accuracy theater.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92931" y="2947467"/>
            <a:ext cx="35719" cy="35719"/>
          </a:xfrm>
          <a:prstGeom prst="ellipse">
            <a:avLst/>
          </a:prstGeom>
          <a:solidFill>
            <a:srgbClr val="1E2A7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685800" y="2890317"/>
            <a:ext cx="3707606" cy="159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3" dirty="0">
                <a:solidFill>
                  <a:srgbClr val="3A3F5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Resumable checkpoint + history.pkl made 100-epoch training on Kaggle practical.</a:t>
            </a:r>
            <a:endParaRPr lang="en-US" sz="703" dirty="0"/>
          </a:p>
        </p:txBody>
      </p:sp>
      <p:sp>
        <p:nvSpPr>
          <p:cNvPr id="37" name="Text 35"/>
          <p:cNvSpPr/>
          <p:nvPr/>
        </p:nvSpPr>
        <p:spPr>
          <a:xfrm>
            <a:off x="4614863" y="1882378"/>
            <a:ext cx="4071938" cy="1330300"/>
          </a:xfrm>
          <a:prstGeom prst="roundRect">
            <a:avLst>
              <a:gd name="adj" fmla="val 10024"/>
            </a:avLst>
          </a:prstGeom>
          <a:solidFill>
            <a:srgbClr val="EEF1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4743450" y="200951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6B6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➤</a:t>
            </a:r>
            <a:endParaRPr lang="en-US" sz="1266" dirty="0"/>
          </a:p>
        </p:txBody>
      </p:sp>
      <p:sp>
        <p:nvSpPr>
          <p:cNvPr id="39" name="Text 37"/>
          <p:cNvSpPr/>
          <p:nvPr/>
        </p:nvSpPr>
        <p:spPr>
          <a:xfrm>
            <a:off x="4929188" y="1996678"/>
            <a:ext cx="3629025" cy="166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1013" b="1" spc="-5" kern="0" dirty="0">
                <a:solidFill>
                  <a:srgbClr val="B23A3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What's next</a:t>
            </a:r>
            <a:endParaRPr lang="en-US" sz="1013" dirty="0"/>
          </a:p>
        </p:txBody>
      </p:sp>
      <p:sp>
        <p:nvSpPr>
          <p:cNvPr id="40" name="Text 38"/>
          <p:cNvSpPr/>
          <p:nvPr/>
        </p:nvSpPr>
        <p:spPr>
          <a:xfrm>
            <a:off x="4743450" y="2308101"/>
            <a:ext cx="35719" cy="35719"/>
          </a:xfrm>
          <a:prstGeom prst="ellipse">
            <a:avLst/>
          </a:prstGeom>
          <a:solidFill>
            <a:srgbClr val="FF6B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4836319" y="2250951"/>
            <a:ext cx="3721894" cy="318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800" dirty="0">
                <a:solidFill>
                  <a:srgbClr val="3A3F5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Add real-time augmentation (rotation, flip, intensity jitter) to close the glioma↔meningioma gap.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743450" y="2624212"/>
            <a:ext cx="35719" cy="35719"/>
          </a:xfrm>
          <a:prstGeom prst="ellipse">
            <a:avLst/>
          </a:prstGeom>
          <a:solidFill>
            <a:srgbClr val="FF6B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4836319" y="2567062"/>
            <a:ext cx="3721894" cy="159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3" dirty="0">
                <a:solidFill>
                  <a:srgbClr val="3A3F5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Try early stopping / ReduceLROnPlateau — val loss ticks up after ~epoch 60.</a:t>
            </a:r>
            <a:endParaRPr lang="en-US" sz="703" dirty="0"/>
          </a:p>
        </p:txBody>
      </p:sp>
      <p:sp>
        <p:nvSpPr>
          <p:cNvPr id="44" name="Text 42"/>
          <p:cNvSpPr/>
          <p:nvPr/>
        </p:nvSpPr>
        <p:spPr>
          <a:xfrm>
            <a:off x="4743450" y="2810842"/>
            <a:ext cx="35719" cy="35719"/>
          </a:xfrm>
          <a:prstGeom prst="ellipse">
            <a:avLst/>
          </a:prstGeom>
          <a:solidFill>
            <a:srgbClr val="FF6B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4836319" y="2753692"/>
            <a:ext cx="3721894" cy="159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3" dirty="0">
                <a:solidFill>
                  <a:srgbClr val="3A3F5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Fine-tune the last VGG19 conv block (partial unfreeze) instead of a fully frozen backbone.</a:t>
            </a:r>
            <a:endParaRPr lang="en-US" sz="703" dirty="0"/>
          </a:p>
        </p:txBody>
      </p:sp>
      <p:sp>
        <p:nvSpPr>
          <p:cNvPr id="46" name="Text 44"/>
          <p:cNvSpPr/>
          <p:nvPr/>
        </p:nvSpPr>
        <p:spPr>
          <a:xfrm>
            <a:off x="4743450" y="2997473"/>
            <a:ext cx="35719" cy="35719"/>
          </a:xfrm>
          <a:prstGeom prst="ellipse">
            <a:avLst/>
          </a:prstGeom>
          <a:solidFill>
            <a:srgbClr val="FF6B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4836319" y="2940323"/>
            <a:ext cx="3721894" cy="1580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800" dirty="0">
                <a:solidFill>
                  <a:srgbClr val="3A3F5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Add Grad-CAM saliency overlays for clinical interpretability.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457200" y="4564856"/>
            <a:ext cx="8229600" cy="0"/>
          </a:xfrm>
          <a:prstGeom prst="line">
            <a:avLst/>
          </a:prstGeom>
          <a:noFill/>
          <a:ln w="7144">
            <a:solidFill>
              <a:srgbClr val="D7DCE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7200" y="4561284"/>
            <a:ext cx="8229600" cy="254369"/>
          </a:xfrm>
          <a:prstGeom prst="rect">
            <a:avLst/>
          </a:prstGeom>
          <a:noFill/>
          <a:ln/>
        </p:spPr>
        <p:txBody>
          <a:bodyPr wrap="square" lIns="0" tIns="57150" rIns="0" bIns="0" rtlCol="0" anchor="t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6B729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Brain Tumor Classification from MRI Scans · VGG19 Transfer Learning · BT-MRI Dataset (7,023 scans)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457200" y="4912779"/>
            <a:ext cx="42863" cy="42863"/>
          </a:xfrm>
          <a:prstGeom prst="roundRect">
            <a:avLst>
              <a:gd name="adj" fmla="val 66666"/>
            </a:avLst>
          </a:prstGeom>
          <a:solidFill>
            <a:srgbClr val="FF6B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457200" y="4868466"/>
            <a:ext cx="776771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6B729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BRAIN TUMOR CLASSIFICATION · VGG19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8239199" y="4868466"/>
            <a:ext cx="5937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spc="37" kern="0" dirty="0">
                <a:solidFill>
                  <a:srgbClr val="6B729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THANK YOU</a:t>
            </a:r>
            <a:endParaRPr lang="en-US" sz="619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2026-07-30T06:49:19Z</dcterms:created>
  <dcterms:modified xsi:type="dcterms:W3CDTF">2026-07-30T06:49:19Z</dcterms:modified>
</cp:coreProperties>
</file>